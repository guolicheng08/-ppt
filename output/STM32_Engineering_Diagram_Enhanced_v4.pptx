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ADVANCED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STM32 外设、信号时序与工程系统设计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6931152" cy="427939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75688"/>
            <a:ext cx="6172200" cy="151790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3000" b="1">
                <a:solidFill>
                  <a:srgbClr val="EDF5FC"/>
                </a:solidFill>
                <a:latin typeface="Microsoft YaHei"/>
              </a:defRPr>
            </a:pPr>
            <a:r>
              <a:t>从 GPIO 到片上总线</a:t>
            </a:r>
          </a:p>
          <a:p>
            <a:pPr>
              <a:defRPr sz="3000" b="1">
                <a:solidFill>
                  <a:srgbClr val="EDF5FC"/>
                </a:solidFill>
                <a:latin typeface="Microsoft YaHei"/>
              </a:defRPr>
            </a:pPr>
            <a:r>
              <a:t>从寄存器到实测波形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690872"/>
            <a:ext cx="6062472" cy="37490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400" b="0">
                <a:solidFill>
                  <a:srgbClr val="52D2E6"/>
                </a:solidFill>
                <a:latin typeface="Microsoft YaHei"/>
              </a:defRPr>
            </a:pPr>
            <a:r>
              <a:t>基于 STM32F103C8T6 / 72 MHz 的教学算例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58784" y="1874519"/>
            <a:ext cx="2514600" cy="2944368"/>
          </a:xfrm>
          <a:prstGeom prst="roundRect">
            <a:avLst/>
          </a:prstGeom>
          <a:solidFill>
            <a:srgbClr val="11263E"/>
          </a:solidFill>
          <a:ln w="11430">
            <a:solidFill>
              <a:srgbClr val="5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2578608"/>
            <a:ext cx="2176272" cy="109728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700" b="1">
                <a:solidFill>
                  <a:srgbClr val="52D2E6"/>
                </a:solidFill>
                <a:latin typeface="Microsoft YaHei"/>
              </a:defRPr>
            </a:pPr>
            <a:r>
              <a:t>STM32F103</a:t>
            </a:r>
          </a:p>
          <a:p>
            <a:pPr algn="ctr">
              <a:defRPr sz="1700" b="1">
                <a:solidFill>
                  <a:srgbClr val="52D2E6"/>
                </a:solidFill>
                <a:latin typeface="Microsoft YaHei"/>
              </a:defRPr>
            </a:pPr>
            <a:r>
              <a:t>Cortex-M3</a:t>
            </a:r>
          </a:p>
          <a:p>
            <a:pPr algn="ctr">
              <a:defRPr sz="1700" b="1">
                <a:solidFill>
                  <a:srgbClr val="52D2E6"/>
                </a:solidFill>
                <a:latin typeface="Microsoft YaHei"/>
              </a:defRPr>
            </a:pPr>
            <a:r>
              <a:t>AHB · APB1 · APB2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2075688"/>
            <a:ext cx="310896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100816" y="207568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2468880"/>
            <a:ext cx="310896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100816" y="2468880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29600" y="2862072"/>
            <a:ext cx="310896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100816" y="28620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3255264"/>
            <a:ext cx="310896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00816" y="3255264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3648456"/>
            <a:ext cx="310896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100816" y="364845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4041648"/>
            <a:ext cx="310896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100816" y="404164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29600" y="4434840"/>
            <a:ext cx="310896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100816" y="4434840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课程目标：把“会调用 HAL”升级成“能推导参数、解释时序、验证边界和排查故障”。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学习路径：需求、架构、驱动、时序、验证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技术指标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9904" y="2862072"/>
            <a:ext cx="23774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42620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42620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35936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9088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8232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资源/时钟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20896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267200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267200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76928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驱动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224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GPIO/TIM/DMA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61888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6108192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108192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17920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通信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UART/SPI/I²C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02880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7949184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949184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58912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2064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控制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1208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PID/状态机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4387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979017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79017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899904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73056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测试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2200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测量/验收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142232"/>
            <a:ext cx="10689336" cy="75895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315968"/>
            <a:ext cx="1042415" cy="3474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400" b="1">
                <a:solidFill>
                  <a:srgbClr val="52D2E6"/>
                </a:solidFill>
                <a:latin typeface="Microsoft YaHei"/>
              </a:defRPr>
            </a:pPr>
            <a:r>
              <a:t>核心路径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1952" y="4224528"/>
            <a:ext cx="9290304" cy="5303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0">
                <a:solidFill>
                  <a:srgbClr val="EDF5FC"/>
                </a:solidFill>
                <a:latin typeface="Microsoft YaHei"/>
              </a:defRPr>
            </a:pPr>
            <a:r>
              <a:t>输出：时钟预算 + 外设分配 + 接口规范 + 波形证据 + 异常记录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工程审查：区分设计假设、芯片规格与示波器实测值；所有图形均可编辑。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系统案例：上位机驱动的电机测速闭环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串口调参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9904" y="2862072"/>
            <a:ext cx="23774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42620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42620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35936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9088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STM32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8232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控制与采样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20896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267200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267200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76928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PWM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224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驱动器输入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61888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6108192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108192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17920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H Bridge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功率输出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02880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7949184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949184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58912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2064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Motor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1208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负载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4387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979017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79017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899904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73056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Encoder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2200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反馈采集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142232"/>
            <a:ext cx="10689336" cy="75895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315968"/>
            <a:ext cx="1042415" cy="3474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400" b="1">
                <a:solidFill>
                  <a:srgbClr val="52D2E6"/>
                </a:solidFill>
                <a:latin typeface="Microsoft YaHei"/>
              </a:defRPr>
            </a:pPr>
            <a:r>
              <a:t>核心路径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1952" y="4224528"/>
            <a:ext cx="9290304" cy="5303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0">
                <a:solidFill>
                  <a:srgbClr val="EDF5FC"/>
                </a:solidFill>
                <a:latin typeface="Microsoft YaHei"/>
              </a:defRPr>
            </a:pPr>
            <a:r>
              <a:t>控制链：控制周期 1 ms / PWM 20 kHz / USART 115200 / 编码器反馈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工程审查：区分设计假设、芯片规格与示波器实测值；所有图形均可编辑。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建立量化指标：需求必须可验证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对象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6139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6724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典型目标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7336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关键约束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8532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29115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测试方式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PWM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6139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6724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20 kHz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17336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PSC / ARR / CCR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8532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29115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示波器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采样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6139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6724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2 kHz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17336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源阻抗、ADC 时钟、DMA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8532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9115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采样记录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控制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6139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6724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1 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336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最坏执行时间、抖动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28532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9115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GPIO 打点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通信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6139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06724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115200 8N1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17336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吞吐、CRC、丢包率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28532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29115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抓包/压力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" y="4572000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" y="4617720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安全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06139" y="4572000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06724" y="4617720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过流切断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17336" y="4572000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4617720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硬件路径、失效模式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8532" y="4572000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29115" y="4617720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故障注入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" y="5230368"/>
            <a:ext cx="10625328" cy="493776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552" y="5312664"/>
            <a:ext cx="10222992" cy="3017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EDF5FC"/>
                </a:solidFill>
                <a:latin typeface="Microsoft YaHei"/>
              </a:defRPr>
            </a:pPr>
            <a:r>
              <a:t>这里的数值是讲解案例，投产应依据器件、负载和任务书重做预算。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条件、指标与阈值仅用于 STM32F103C8T6 的教学设计；投产时需对照具体板卡修订。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芯片内部架构：CPU、总线与外设分区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Cortex-M3 / NVIC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810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79440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79440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0413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728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AHB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643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存储器总线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5729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500359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00359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1332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647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APB2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562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GPIO / ADC / TIM1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66483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721278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21278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22515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95667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APB1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4811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TIM2 / USART2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75673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942197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42197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31705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4857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DMA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4001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外设↔SRAM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142232"/>
            <a:ext cx="10689336" cy="75895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315968"/>
            <a:ext cx="1042415" cy="3474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400" b="1">
                <a:solidFill>
                  <a:srgbClr val="52D2E6"/>
                </a:solidFill>
                <a:latin typeface="Microsoft YaHei"/>
              </a:defRPr>
            </a:pPr>
            <a:r>
              <a:t>核心路径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1952" y="4224528"/>
            <a:ext cx="9290304" cy="5303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0">
                <a:solidFill>
                  <a:srgbClr val="EDF5FC"/>
                </a:solidFill>
                <a:latin typeface="Microsoft YaHei"/>
              </a:defRPr>
            </a:pPr>
            <a:r>
              <a:t>总线频率与定时器时钟不同：APB 分频后的某些 TIM 时钟存在倍频规则。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工程审查：区分设计假设、芯片规格与示波器实测值；所有图形均可编辑。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RCC CLOCK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时钟树：8 MHz HSE 如何变成 72 MHz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HSE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8 MHz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9904" y="2862072"/>
            <a:ext cx="23774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42620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42620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35936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9088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PLL ×9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8232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72 MHz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20896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267200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267200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76928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SYSCLK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224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72 MHz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61888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6108192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108192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17920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AHB /1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HCLK 72 MHz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02880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7949184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949184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58912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2064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APB1 /2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1208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PCLK1 36 MHz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4387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979017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79017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899904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73056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TIM2 ×2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2200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72 MHz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142232"/>
            <a:ext cx="10689336" cy="75895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315968"/>
            <a:ext cx="1042415" cy="3474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400" b="1">
                <a:solidFill>
                  <a:srgbClr val="52D2E6"/>
                </a:solidFill>
                <a:latin typeface="Microsoft YaHei"/>
              </a:defRPr>
            </a:pPr>
            <a:r>
              <a:t>核心路径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1952" y="4224528"/>
            <a:ext cx="9290304" cy="5303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0">
                <a:solidFill>
                  <a:srgbClr val="EDF5FC"/>
                </a:solidFill>
                <a:latin typeface="Microsoft YaHei"/>
              </a:defRPr>
            </a:pPr>
            <a:r>
              <a:t>ADC 时钟上限、Flash 等待周期、PLL 配置必须独立核查。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工程审查：区分设计假设、芯片规格与示波器实测值；所有图形均可编辑。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BOOT &amp; STARTUP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复位与启动：为什么代码没有运行到 main()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PWR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POR/PDR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9904" y="2862072"/>
            <a:ext cx="23774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42620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42620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35936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9088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BOOT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8232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启动模式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20896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267200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267200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76928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224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栈指针/复位向量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61888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6108192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108192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17920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INIT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时钟/数据段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02880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7949184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949184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58912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2064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main()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1208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驱动初始化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4387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979017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79017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899904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73056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2200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任务调度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142232"/>
            <a:ext cx="10689336" cy="75895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315968"/>
            <a:ext cx="1042415" cy="3474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400" b="1">
                <a:solidFill>
                  <a:srgbClr val="52D2E6"/>
                </a:solidFill>
                <a:latin typeface="Microsoft YaHei"/>
              </a:defRPr>
            </a:pPr>
            <a:r>
              <a:t>核心路径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1952" y="4224528"/>
            <a:ext cx="9290304" cy="5303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0">
                <a:solidFill>
                  <a:srgbClr val="EDF5FC"/>
                </a:solidFill>
                <a:latin typeface="Microsoft YaHei"/>
              </a:defRPr>
            </a:pPr>
            <a:r>
              <a:t>排故顺序：VDD → NRST → BOOT0 → HSE → SWD → 启动文件。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工程审查：区分设计假设、芯片规格与示波器实测值；所有图形均可编辑。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GPIO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GPIO 内部电路与外部负载的关系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GPIO_REG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ODR/BSRR/IDR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810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79440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79440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0413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728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643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输入/复用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5729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500359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00359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1332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647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DRIVER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562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推挽/开漏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66483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721278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21278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22515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95667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PAD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4811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PAx / PBx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75673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942197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42197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31705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4857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4001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上拉/负载/ESD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142232"/>
            <a:ext cx="10689336" cy="75895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315968"/>
            <a:ext cx="1042415" cy="3474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400" b="1">
                <a:solidFill>
                  <a:srgbClr val="52D2E6"/>
                </a:solidFill>
                <a:latin typeface="Microsoft YaHei"/>
              </a:defRPr>
            </a:pPr>
            <a:r>
              <a:t>核心路径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1952" y="4224528"/>
            <a:ext cx="9290304" cy="5303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0">
                <a:solidFill>
                  <a:srgbClr val="EDF5FC"/>
                </a:solidFill>
                <a:latin typeface="Microsoft YaHei"/>
              </a:defRPr>
            </a:pPr>
            <a:r>
              <a:t>开漏高电平来自上拉；不能使用 MCU GPIO 直接驱动大功率负载。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工程审查：区分设计假设、芯片规格与示波器实测值；所有图形均可编辑。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EXTI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外部中断：机械按键抖动与软件去抖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1444752"/>
            <a:ext cx="10972800" cy="4133087"/>
          </a:xfrm>
          <a:prstGeom prst="round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91056"/>
            <a:ext cx="10351008" cy="32004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1">
                <a:solidFill>
                  <a:srgbClr val="52D2E6"/>
                </a:solidFill>
                <a:latin typeface="Microsoft YaHei"/>
              </a:defRPr>
            </a:pPr>
            <a:r>
              <a:t>一个物理按压可能在几毫秒内产生多个有效边沿。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31136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FFC578"/>
                </a:solidFill>
                <a:latin typeface="Microsoft YaHei"/>
              </a:defRPr>
            </a:pPr>
            <a:r>
              <a:t>RAW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3312" y="2167128"/>
            <a:ext cx="48280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36115" y="2167128"/>
            <a:ext cx="48280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18918" y="2167128"/>
            <a:ext cx="48280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801721" y="2167128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01721" y="2569464"/>
            <a:ext cx="48280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284524" y="2167128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84524" y="2167128"/>
            <a:ext cx="48280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67328" y="2167128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67328" y="2569464"/>
            <a:ext cx="48280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250131" y="2167128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50131" y="2167128"/>
            <a:ext cx="48280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32934" y="2167128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32934" y="2569464"/>
            <a:ext cx="48280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215737" y="2569464"/>
            <a:ext cx="48280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98540" y="2569464"/>
            <a:ext cx="48280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81344" y="2569464"/>
            <a:ext cx="48280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664147" y="2569464"/>
            <a:ext cx="48280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46950" y="2569464"/>
            <a:ext cx="48280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29753" y="2569464"/>
            <a:ext cx="48280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112556" y="2569464"/>
            <a:ext cx="48280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595360" y="2569464"/>
            <a:ext cx="48280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078163" y="2167128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078163" y="2167128"/>
            <a:ext cx="48280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560966" y="2167128"/>
            <a:ext cx="48280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043769" y="2167128"/>
            <a:ext cx="48280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526572" y="2167128"/>
            <a:ext cx="48280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5331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836115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31891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801721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28452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76732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131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73293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215737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69854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18134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664147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14695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629753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11255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59536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78163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56096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043769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52657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00937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3063240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FF818C"/>
                </a:solidFill>
                <a:latin typeface="Microsoft YaHei"/>
              </a:defRPr>
            </a:pPr>
            <a:r>
              <a:t>EDGE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353312" y="3401568"/>
            <a:ext cx="482803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836115" y="3401568"/>
            <a:ext cx="482803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318918" y="3401568"/>
            <a:ext cx="482803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801721" y="2999232"/>
            <a:ext cx="0" cy="402336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801721" y="2999232"/>
            <a:ext cx="482803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284524" y="2999232"/>
            <a:ext cx="0" cy="402336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284524" y="3401568"/>
            <a:ext cx="482804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767328" y="2999232"/>
            <a:ext cx="0" cy="402336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767328" y="2999232"/>
            <a:ext cx="482803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250131" y="2999232"/>
            <a:ext cx="0" cy="402336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250131" y="3401568"/>
            <a:ext cx="482803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732934" y="2999232"/>
            <a:ext cx="0" cy="402336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732934" y="2999232"/>
            <a:ext cx="482803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215737" y="2999232"/>
            <a:ext cx="0" cy="402336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215737" y="3401568"/>
            <a:ext cx="482803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698540" y="3401568"/>
            <a:ext cx="482804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181344" y="3401568"/>
            <a:ext cx="482803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664147" y="3401568"/>
            <a:ext cx="482803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146950" y="3401568"/>
            <a:ext cx="482803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629753" y="3401568"/>
            <a:ext cx="482803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112556" y="3401568"/>
            <a:ext cx="482804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595360" y="3401568"/>
            <a:ext cx="482803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078163" y="3401568"/>
            <a:ext cx="482803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560966" y="3401568"/>
            <a:ext cx="482803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043769" y="3401568"/>
            <a:ext cx="482803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526572" y="3401568"/>
            <a:ext cx="482804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35331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836115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31891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801721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28452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76732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250131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73293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215737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69854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18134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664147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14695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629753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11255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59536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078163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6096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043769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52657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937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777240" y="3895344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52D2E6"/>
                </a:solidFill>
                <a:latin typeface="Microsoft YaHei"/>
              </a:defRPr>
            </a:pPr>
            <a:r>
              <a:t>FILTER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353312" y="3831336"/>
            <a:ext cx="482803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836115" y="3831336"/>
            <a:ext cx="482803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318918" y="3831336"/>
            <a:ext cx="482803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801721" y="3831336"/>
            <a:ext cx="482803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284524" y="3831336"/>
            <a:ext cx="482804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767328" y="3831336"/>
            <a:ext cx="482803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4250131" y="3831336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4250131" y="4233672"/>
            <a:ext cx="482803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732934" y="4233672"/>
            <a:ext cx="482803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5215737" y="4233672"/>
            <a:ext cx="482803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5698540" y="4233672"/>
            <a:ext cx="482804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181344" y="4233672"/>
            <a:ext cx="482803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664147" y="4233672"/>
            <a:ext cx="482803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146950" y="4233672"/>
            <a:ext cx="482803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629753" y="4233672"/>
            <a:ext cx="482803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8112556" y="4233672"/>
            <a:ext cx="482804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595360" y="4233672"/>
            <a:ext cx="482803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078163" y="3831336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078163" y="3831336"/>
            <a:ext cx="482803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9560966" y="3831336"/>
            <a:ext cx="482803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043769" y="3831336"/>
            <a:ext cx="482803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526572" y="3831336"/>
            <a:ext cx="482804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35331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836115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31891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801721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328452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376732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250131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73293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5215737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569854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618134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6664147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14695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629753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811255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859536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078163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956096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0043769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52657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100937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786384" y="4983480"/>
            <a:ext cx="10771632" cy="41148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EDF5FC"/>
                </a:solidFill>
                <a:latin typeface="Microsoft YaHei"/>
              </a:defRPr>
            </a:pPr>
            <a:r>
              <a:t>不要在中断里忙等；记录时间戳，状态机判稳后再产生按键事件。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时序图为课堂示意；真实建立时间、保持时间、占空比、边沿完整性需测量。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TIMER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定时器计算：TIM CLK、PSC、ARR、CCR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变量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6139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6724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示例取值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7336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作用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8532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29115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公式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TIM2CLK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6139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6724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72 MHz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17336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定时器输入时钟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8532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29115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PCLK1 ×2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PSC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6139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6724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71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17336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预分频后 = 1 MHz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8532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9115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/(PSC+1)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ARR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6139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6724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49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336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每 50 个计数更新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28532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9115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/(ARR+1)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CCR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6139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06724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17336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PWM 高电平约 15 μs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28532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29115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CCR/(ARR+1)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5230368"/>
            <a:ext cx="10625328" cy="493776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" y="5312664"/>
            <a:ext cx="10222992" cy="3017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EDF5FC"/>
                </a:solidFill>
                <a:latin typeface="Microsoft YaHei"/>
              </a:defRPr>
            </a:pPr>
            <a:r>
              <a:t>f_PWM = 72 MHz / [(71+1)×(49+1)] = 20 kHz，周期 = 50 μs。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条件、指标与阈值仅用于 STM32F103C8T6 的教学设计；投产时需对照具体板卡修订。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PWM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PWM：用高电平时间调节平均功率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1444752"/>
            <a:ext cx="10972800" cy="4133087"/>
          </a:xfrm>
          <a:prstGeom prst="round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91056"/>
            <a:ext cx="10351008" cy="32004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1">
                <a:solidFill>
                  <a:srgbClr val="52D2E6"/>
                </a:solidFill>
                <a:latin typeface="Microsoft YaHei"/>
              </a:defRPr>
            </a:pPr>
            <a:r>
              <a:t>20 kHz 对应每周期 50 μs；改变 CCR 会改变占空比。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31136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85ACFD"/>
                </a:solidFill>
                <a:latin typeface="Microsoft YaHei"/>
              </a:defRPr>
            </a:pPr>
            <a:r>
              <a:t>CNT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3312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55064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56816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258568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60320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62072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63824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65576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67328" y="2167128"/>
            <a:ext cx="0" cy="402336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67328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69080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70832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72584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74336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276088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577840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79592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181344" y="2167128"/>
            <a:ext cx="0" cy="402336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181344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483096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784848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086600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388352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90104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991856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93608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595360" y="2167128"/>
            <a:ext cx="0" cy="402336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595360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897112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98864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500616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802368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104120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05872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07624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5331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65506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95681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25856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56032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86207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16382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46557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76732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06908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37083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67258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97433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27608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57784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87959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18134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48309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78484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08660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38835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69010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99185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29360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59536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89711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19886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50061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80236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10412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40587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70762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00937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77240" y="3063240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52D2E6"/>
                </a:solidFill>
                <a:latin typeface="Microsoft YaHei"/>
              </a:defRPr>
            </a:pPr>
            <a:r>
              <a:t>PWM30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353312" y="2999232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655064" y="2999232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956816" y="2999232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258568" y="2999232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258568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560320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862072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163824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465576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767328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069080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4370832" y="2999232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370832" y="2999232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672584" y="2999232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974336" y="2999232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276088" y="2999232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276088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5577840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879592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181344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483096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784848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086600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88352" y="2999232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388352" y="2999232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690104" y="2999232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7991856" y="2999232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293608" y="2999232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293608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595360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897112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198864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500616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802368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0104120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0405872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707624" y="340156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35331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65506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95681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225856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56032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286207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16382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46557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76732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406908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437083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67258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97433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27608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557784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587959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618134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648309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678484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08660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38835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69010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99185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29360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59536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89711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919886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950061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80236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010412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040587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70762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100937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777240" y="3895344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FFC578"/>
                </a:solidFill>
                <a:latin typeface="Microsoft YaHei"/>
              </a:defRPr>
            </a:pPr>
            <a:r>
              <a:t>PWM70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1353312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655064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956816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2258568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2560320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2862072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3163824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3465576" y="3831336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3465576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3767328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069080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370832" y="3831336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370832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672584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4974336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5276088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5577840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5879592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6181344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6483096" y="3831336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6483096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6784848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7086600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7388352" y="3831336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7388352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7690104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7991856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8293608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8595360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8897112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9198864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9500616" y="3831336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9500616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9802368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0104120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10405872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10707624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135331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165506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195681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225856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256032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286207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316382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346557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376732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406908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437083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467258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497433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527608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557784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587959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618134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648309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678484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708660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738835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769010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799185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829360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859536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889711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19886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061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80236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1010412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040587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070762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1100937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TextBox 220"/>
          <p:cNvSpPr txBox="1"/>
          <p:nvPr/>
        </p:nvSpPr>
        <p:spPr>
          <a:xfrm>
            <a:off x="786384" y="4983480"/>
            <a:ext cx="10771632" cy="41148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EDF5FC"/>
                </a:solidFill>
                <a:latin typeface="Microsoft YaHei"/>
              </a:defRPr>
            </a:pPr>
            <a:r>
              <a:t>真实电机电流由电机电感、反电动势与 PWM 频率共同决定。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时序图为课堂示意；真实建立时间、保持时间、占空比、边沿完整性需测量。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TIM PRELOAD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PWM 预装载：避免周期中途更新带来的毛刺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控制任务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计算占空比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810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79440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79440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0413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728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CCR_PRE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643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写入预装载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5729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500359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00359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1332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647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UEV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562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更新事件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66483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721278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21278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22515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95667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CCR_ACTIVE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4811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周期边界更新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75673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942197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42197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31705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4857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PWM_OUT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4001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输出无毛刺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142232"/>
            <a:ext cx="10689336" cy="75895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315968"/>
            <a:ext cx="1042415" cy="3474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400" b="1">
                <a:solidFill>
                  <a:srgbClr val="52D2E6"/>
                </a:solidFill>
                <a:latin typeface="Microsoft YaHei"/>
              </a:defRPr>
            </a:pPr>
            <a:r>
              <a:t>核心路径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1952" y="4224528"/>
            <a:ext cx="9290304" cy="5303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0">
                <a:solidFill>
                  <a:srgbClr val="EDF5FC"/>
                </a:solidFill>
                <a:latin typeface="Microsoft YaHei"/>
              </a:defRPr>
            </a:pPr>
            <a:r>
              <a:t>在更改 ARR/CCR、启用同步更新前明确 OCxPE/ARPE 与 UEV 生效时刻。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工程审查：区分设计假设、芯片规格与示波器实测值；所有图形均可编辑。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ADVANCED TIMER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半桥互补 PWM：死区与硬件保护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1444752"/>
            <a:ext cx="10972800" cy="4133087"/>
          </a:xfrm>
          <a:prstGeom prst="round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91056"/>
            <a:ext cx="10351008" cy="32004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1">
                <a:solidFill>
                  <a:srgbClr val="52D2E6"/>
                </a:solidFill>
                <a:latin typeface="Microsoft YaHei"/>
              </a:defRPr>
            </a:pPr>
            <a:r>
              <a:t>死区时间避免上下功率管同时导通；破坏死区会造成直通。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31136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52D2E6"/>
                </a:solidFill>
                <a:latin typeface="Microsoft YaHei"/>
              </a:defRPr>
            </a:pPr>
            <a:r>
              <a:t>CH1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3312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55064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56816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258568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60320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62072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63824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63824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65576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67328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69080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70832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72584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974336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74336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76088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77840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79592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181344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483096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784848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784848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86600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88352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90104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991856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293608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95360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95360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97112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98864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500616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802368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104120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405872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405872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707624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35331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65506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95681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25856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56032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86207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16382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46557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76732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06908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7083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67258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97433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27608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57784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87959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18134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48309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78484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08660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38835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69010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99185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29360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59536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89711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19886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50061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80236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10412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40587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70762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00937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77240" y="3063240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FF818C"/>
                </a:solidFill>
                <a:latin typeface="Microsoft YaHei"/>
              </a:defRPr>
            </a:pPr>
            <a:r>
              <a:t>DEAD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353312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655064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956816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258568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560320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862072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163824" y="2999232"/>
            <a:ext cx="0" cy="402336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163824" y="299923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465576" y="299923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767328" y="299923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069080" y="299923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370832" y="2999232"/>
            <a:ext cx="0" cy="402336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370832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672584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974336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5276088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577840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5879592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181344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483096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784848" y="2999232"/>
            <a:ext cx="0" cy="402336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784848" y="299923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086600" y="299923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388352" y="299923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7690104" y="299923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7991856" y="2999232"/>
            <a:ext cx="0" cy="402336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7991856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293608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595360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8897112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198864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500616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802368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0104120" y="3401568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0405872" y="2999232"/>
            <a:ext cx="0" cy="402336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405872" y="299923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0707624" y="299923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35331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65506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95681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225856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256032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286207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16382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46557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76732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06908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37083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67258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97433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527608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557784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587959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618134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648309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678484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08660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38835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9010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99185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29360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859536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889711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19886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950061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980236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10412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040587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70762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100937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777240" y="3895344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FFC578"/>
                </a:solidFill>
                <a:latin typeface="Microsoft YaHei"/>
              </a:defRPr>
            </a:pPr>
            <a:r>
              <a:t>CH1N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1353312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655064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956816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2258568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2560320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2862072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3163824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3465576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3767328" y="3831336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3767328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069080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370832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4672584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4974336" y="3831336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4974336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5276088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5577840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5879592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6181344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6483096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6784848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7086600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7388352" y="3831336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7388352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7690104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7991856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8293608" y="3831336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8595360" y="3831336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8595360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8897112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9198864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9500616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9802368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10104120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10405872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10707624" y="423367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135331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165506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195681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225856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256032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286207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316382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346557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376732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406908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437083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467258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497433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527608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557784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587959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618134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648309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678484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708660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738835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769010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799185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829360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859536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889711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19886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0061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80236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010412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040587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1070762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1100937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extBox 221"/>
          <p:cNvSpPr txBox="1"/>
          <p:nvPr/>
        </p:nvSpPr>
        <p:spPr>
          <a:xfrm>
            <a:off x="786384" y="4983480"/>
            <a:ext cx="10771632" cy="41148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EDF5FC"/>
                </a:solidFill>
                <a:latin typeface="Microsoft YaHei"/>
              </a:defRPr>
            </a:pPr>
            <a:r>
              <a:t>TIM1 有高级控制功能；具体通道、死区、Break 行为应查对应参考手册。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时序图为课堂示意；真实建立时间、保持时间、占空比、边沿完整性需测量。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ADC / DMA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ADC + DMA：采样流水线与缓冲区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Analog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滤波/限幅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9904" y="2862072"/>
            <a:ext cx="23774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42620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42620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35936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9088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S&amp;H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8232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采样保持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20896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267200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267200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76928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ADC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224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12 bit 转换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61888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6108192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108192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17920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DMA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搬运数据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02880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7949184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949184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58912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2064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1208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半缓冲/全缓冲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4387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979017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79017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899904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73056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DSP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2200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均值/RMS/保护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142232"/>
            <a:ext cx="10689336" cy="75895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315968"/>
            <a:ext cx="1042415" cy="3474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400" b="1">
                <a:solidFill>
                  <a:srgbClr val="52D2E6"/>
                </a:solidFill>
                <a:latin typeface="Microsoft YaHei"/>
              </a:defRPr>
            </a:pPr>
            <a:r>
              <a:t>核心路径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1952" y="4224528"/>
            <a:ext cx="9290304" cy="5303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0">
                <a:solidFill>
                  <a:srgbClr val="EDF5FC"/>
                </a:solidFill>
                <a:latin typeface="Microsoft YaHei"/>
              </a:defRPr>
            </a:pPr>
            <a:r>
              <a:t>DMA 缓冲必须设计读写所有权，避免算法处理时被采样覆盖。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工程审查：区分设计假设、芯片规格与示波器实测值；所有图形均可编辑。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ANALOG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ADC 精度预算：12 bit 不等于 12 bit 准确度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来源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6139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6724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量化示例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7336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影响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8532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29115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应对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LSB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6139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6724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3.3 V/4096≈0.806 mV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17336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理想分辨率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8532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29115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校准参考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VREF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6139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6724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参考源漂移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17336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满量程误差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8532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9115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测量/稳压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ADC 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6139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6724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采样电容充电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336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采样误差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28532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9115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源阻抗预算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Noise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6139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06724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电源纹波/EMI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17336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有效位数下降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28532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29115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布局/滤波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5230368"/>
            <a:ext cx="10625328" cy="493776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" y="5312664"/>
            <a:ext cx="10222992" cy="3017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EDF5FC"/>
                </a:solidFill>
                <a:latin typeface="Microsoft YaHei"/>
              </a:defRPr>
            </a:pPr>
            <a:r>
              <a:t>需要区分分辨率、绝对准确度、ENOB、噪声与 INL/DNL。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条件、指标与阈值仅用于 STM32F103C8T6 的教学设计；投产时需对照具体板卡修订。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UART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USART：8N1 一帧为什么需要 10 bit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1444752"/>
            <a:ext cx="10972800" cy="4133087"/>
          </a:xfrm>
          <a:prstGeom prst="round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91056"/>
            <a:ext cx="10351008" cy="32004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1">
                <a:solidFill>
                  <a:srgbClr val="52D2E6"/>
                </a:solidFill>
                <a:latin typeface="Microsoft YaHei"/>
              </a:defRPr>
            </a:pPr>
            <a:r>
              <a:t>115200 bit/s → 每 bit 约 8.68 μs；8N1 每字节至少 10 bit。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31136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52D2E6"/>
                </a:solidFill>
                <a:latin typeface="Microsoft YaHei"/>
              </a:defRPr>
            </a:pPr>
            <a:r>
              <a:t>TX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3312" y="2167128"/>
            <a:ext cx="965606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18918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18918" y="2569464"/>
            <a:ext cx="965606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284524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84524" y="2167128"/>
            <a:ext cx="965607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50131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250131" y="2569464"/>
            <a:ext cx="965606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15737" y="2569464"/>
            <a:ext cx="965607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181344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81344" y="2167128"/>
            <a:ext cx="965606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46950" y="2167128"/>
            <a:ext cx="965606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112556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12556" y="2569464"/>
            <a:ext cx="965607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078163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78163" y="2167128"/>
            <a:ext cx="965606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043769" y="2167128"/>
            <a:ext cx="965607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35331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31891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8452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250131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215737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18134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4695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11255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078163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043769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00937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7240" y="3063240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FFC578"/>
                </a:solidFill>
                <a:latin typeface="Microsoft YaHei"/>
              </a:defRPr>
            </a:pPr>
            <a:r>
              <a:t>START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353312" y="3401568"/>
            <a:ext cx="965606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318918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318918" y="2999232"/>
            <a:ext cx="965606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284524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284524" y="3401568"/>
            <a:ext cx="965607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0131" y="3401568"/>
            <a:ext cx="965606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215737" y="3401568"/>
            <a:ext cx="965607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181344" y="3401568"/>
            <a:ext cx="965606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146950" y="3401568"/>
            <a:ext cx="965606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112556" y="3401568"/>
            <a:ext cx="965607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78163" y="3401568"/>
            <a:ext cx="965606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043769" y="3401568"/>
            <a:ext cx="965607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35331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31891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452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250131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215737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18134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14695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11255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078163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043769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100937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77240" y="3895344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82E2B5"/>
                </a:solidFill>
                <a:latin typeface="Microsoft YaHei"/>
              </a:defRPr>
            </a:pPr>
            <a:r>
              <a:t>STOP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353312" y="4233672"/>
            <a:ext cx="965606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318918" y="4233672"/>
            <a:ext cx="965606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284524" y="4233672"/>
            <a:ext cx="965607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250131" y="4233672"/>
            <a:ext cx="965606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215737" y="4233672"/>
            <a:ext cx="965607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181344" y="4233672"/>
            <a:ext cx="965606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146950" y="4233672"/>
            <a:ext cx="965606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112556" y="4233672"/>
            <a:ext cx="965607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078163" y="4233672"/>
            <a:ext cx="965606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043769" y="3831336"/>
            <a:ext cx="0" cy="402336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043769" y="3831336"/>
            <a:ext cx="965607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35331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31891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28452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250131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215737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18134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14695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11255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078163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043769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100937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786384" y="4983480"/>
            <a:ext cx="10771632" cy="41148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EDF5FC"/>
                </a:solidFill>
                <a:latin typeface="Microsoft YaHei"/>
              </a:defRPr>
            </a:pPr>
            <a:r>
              <a:t>理论载荷吞吐上限约 11 520 byte/s，不含协议头、重传等开销。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时序图为课堂示意；真实建立时间、保持时间、占空比、边沿完整性需测量。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SPI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SPI 模式 0：SCK / MOSI / MISO 对齐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1444752"/>
            <a:ext cx="10972800" cy="4133087"/>
          </a:xfrm>
          <a:prstGeom prst="round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91056"/>
            <a:ext cx="10351008" cy="32004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1">
                <a:solidFill>
                  <a:srgbClr val="52D2E6"/>
                </a:solidFill>
                <a:latin typeface="Microsoft YaHei"/>
              </a:defRPr>
            </a:pPr>
            <a:r>
              <a:t>CPOL=0、CPHA=0：在规定时钟边沿采样，另一个边沿改变数据。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31136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52D2E6"/>
                </a:solidFill>
                <a:latin typeface="Microsoft YaHei"/>
              </a:defRPr>
            </a:pPr>
            <a:r>
              <a:t>SCK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3312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655064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655064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56816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56816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258568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58568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560320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60320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862072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862072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63824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163824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465576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65576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67328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67328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069080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069080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370832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370832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672584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672584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974336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974336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276088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276088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577840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577840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879592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879592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181344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181344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483096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483096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784848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784848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086600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086600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388352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88352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690104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690104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991856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991856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293608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293608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595360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595360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897112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897112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198864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198864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500616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500616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802368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802368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4120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104120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405872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405872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707624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707624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35331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65506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95681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25856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56032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86207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16382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46557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76732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06908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37083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67258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97433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27608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57784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87959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18134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48309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78484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08660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38835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69010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99185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29360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59536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89711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9886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0061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80236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10412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40587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070762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0937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777240" y="3063240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FFC578"/>
                </a:solidFill>
                <a:latin typeface="Microsoft YaHei"/>
              </a:defRPr>
            </a:pPr>
            <a:r>
              <a:t>MOSI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1353312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655064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956816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2258568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2560320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2560320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286207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163824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465576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3767328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767328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4069080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4370832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4672584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4974336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5276088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5577840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5879592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6181344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6181344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6483096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6784848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7086600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388352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388352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690104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991856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293608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595360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595360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89711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9198864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9500616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802368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9802368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104120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0405872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0707624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35331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65506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95681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225856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256032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286207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16382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46557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76732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6908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37083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67258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7433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27608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57784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87959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618134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648309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678484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708660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738835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769010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799185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829360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859536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889711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919886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950061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980236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10412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40587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70762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0937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777240" y="3895344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82E2B5"/>
                </a:solidFill>
                <a:latin typeface="Microsoft YaHei"/>
              </a:defRPr>
            </a:pPr>
            <a:r>
              <a:t>MISO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1353312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1655064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1956816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2258568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2560320" y="3831336"/>
            <a:ext cx="0" cy="402336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2560320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2862072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3163824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3465576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3767328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4069080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4370832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4672584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4974336" y="3831336"/>
            <a:ext cx="0" cy="402336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4974336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5276088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5577840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5879592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6181344" y="3831336"/>
            <a:ext cx="0" cy="402336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181344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6483096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6784848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7086600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7388352" y="3831336"/>
            <a:ext cx="0" cy="402336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7388352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7690104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7991856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293608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8595360" y="3831336"/>
            <a:ext cx="0" cy="402336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595360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8897112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98864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500616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802368" y="3831336"/>
            <a:ext cx="0" cy="402336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02368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0104120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0405872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10707624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35331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65506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195681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225856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256032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286207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316382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346557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376732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406908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437083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467258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497433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527608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557784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587959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618134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648309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678484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708660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738835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769010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799185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829360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859536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889711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919886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950061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980236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10412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40587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70762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100937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TextBox 250"/>
          <p:cNvSpPr txBox="1"/>
          <p:nvPr/>
        </p:nvSpPr>
        <p:spPr>
          <a:xfrm>
            <a:off x="786384" y="4983480"/>
            <a:ext cx="10771632" cy="41148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EDF5FC"/>
                </a:solidFill>
                <a:latin typeface="Microsoft YaHei"/>
              </a:defRPr>
            </a:pPr>
            <a:r>
              <a:t>数据在全双工模式下同步移入/移出；还要检查 CS、建立/保持时间。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时序图为课堂示意；真实建立时间、保持时间、占空比、边沿完整性需测量。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I2C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I²C 总线：START、ACK 和开漏上拉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1444752"/>
            <a:ext cx="10972800" cy="4133087"/>
          </a:xfrm>
          <a:prstGeom prst="round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91056"/>
            <a:ext cx="10351008" cy="32004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1">
                <a:solidFill>
                  <a:srgbClr val="52D2E6"/>
                </a:solidFill>
                <a:latin typeface="Microsoft YaHei"/>
              </a:defRPr>
            </a:pPr>
            <a:r>
              <a:t>START：SCL 高时 SDA 由高变低；接收方在第 9 位应答。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31136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52D2E6"/>
                </a:solidFill>
                <a:latin typeface="Microsoft YaHei"/>
              </a:defRPr>
            </a:pPr>
            <a:r>
              <a:t>SCL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3312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55064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56816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258568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58568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560320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862072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62072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63824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65576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65576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67328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069080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069080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70832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72584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72584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974336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276088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276088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7840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879592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879592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181344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483096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483096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84848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086600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086600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88352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690104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690104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991856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293608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293608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595360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897112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897112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198864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500616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802368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104120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405872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707624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5331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65506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95681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25856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56032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86207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16382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46557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76732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06908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37083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67258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97433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27608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7784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87959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18134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48309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78484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08660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38835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69010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99185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29360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59536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89711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19886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50061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80236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10412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40587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70762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100937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777240" y="3063240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FFC578"/>
                </a:solidFill>
                <a:latin typeface="Microsoft YaHei"/>
              </a:defRPr>
            </a:pPr>
            <a:r>
              <a:t>SDA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353312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655064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956816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258568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258568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560320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86207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163824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465576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465576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767328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069080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4370832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437083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4672584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4974336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76088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276088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577840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879592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6181344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483096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6483096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784848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086600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388352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388352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90104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991856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293608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8293608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8595360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889711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198864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198864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500616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802368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104120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405872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707624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35331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65506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95681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25856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56032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6207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316382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346557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376732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06908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37083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67258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97433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527608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557784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587959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618134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648309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678484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708660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738835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769010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799185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29360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59536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89711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919886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950061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80236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010412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040587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70762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100937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777240" y="3895344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82E2B5"/>
                </a:solidFill>
                <a:latin typeface="Microsoft YaHei"/>
              </a:defRPr>
            </a:pPr>
            <a:r>
              <a:t>ACK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1353312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655064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956816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2258568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2560320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2862072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3163824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3465576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3767328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4069080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4370832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4672584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4974336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5276088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5577840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5879592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181344" y="3831336"/>
            <a:ext cx="0" cy="402336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181344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483096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6784848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086600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7388352" y="3831336"/>
            <a:ext cx="0" cy="402336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88352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690104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991856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8293608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8595360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8897112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9198864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9500616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9802368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10104120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10405872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0707624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35331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165506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195681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225856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256032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286207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316382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346557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376732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406908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437083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467258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497433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527608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557784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587959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618134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648309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678484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708660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738835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769010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799185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829360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859536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889711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919886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950061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980236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1010412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1040587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070762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1100937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/>
          <p:cNvSpPr txBox="1"/>
          <p:nvPr/>
        </p:nvSpPr>
        <p:spPr>
          <a:xfrm>
            <a:off x="786384" y="4983480"/>
            <a:ext cx="10771632" cy="41148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EDF5FC"/>
                </a:solidFill>
                <a:latin typeface="Microsoft YaHei"/>
              </a:defRPr>
            </a:pPr>
            <a:r>
              <a:t>上升时间受上拉阻值与总线电容影响；具体波形需按手册测量。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时序图为课堂示意；真实建立时间、保持时间、占空比、边沿完整性需测量。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CPU 搬运 VS DMA：性能差异从哪里来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6139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6724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搬运主体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7336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CPU 中断次数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8532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29115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复杂性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逐字节 ISR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6139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6724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CPU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17336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与数据字节数相关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8532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29115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逻辑简单、负荷大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DMA 环形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6139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6724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DMA 控制器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17336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半/满/空闲事件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8532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9115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管理读写指针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DMA 双缓冲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6139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6724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DMA+应用任务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336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块级响应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28532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9115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缓冲区所有权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选择依据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6139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06724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吞吐 / 延迟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17336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最坏响应时间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28532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29115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容错需求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5230368"/>
            <a:ext cx="10625328" cy="493776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552" y="5312664"/>
            <a:ext cx="10222992" cy="3017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EDF5FC"/>
                </a:solidFill>
                <a:latin typeface="Microsoft YaHei"/>
              </a:defRPr>
            </a:pPr>
            <a:r>
              <a:t>DMA 能省 CPU，但并非零总线负荷，更不保证消除缓存覆盖问题。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条件、指标与阈值仅用于 STM32F103C8T6 的教学设计；投产时需对照具体板卡修订。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INTERRUPTS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NVIC：抢占和临界区导致的时延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1444752"/>
            <a:ext cx="10972800" cy="4133087"/>
          </a:xfrm>
          <a:prstGeom prst="round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91056"/>
            <a:ext cx="10351008" cy="32004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1">
                <a:solidFill>
                  <a:srgbClr val="52D2E6"/>
                </a:solidFill>
                <a:latin typeface="Microsoft YaHei"/>
              </a:defRPr>
            </a:pPr>
            <a:r>
              <a:t>高优先级中断可抢占低优先级执行（示例信号）。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31136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85ACFD"/>
                </a:solidFill>
                <a:latin typeface="Microsoft YaHei"/>
              </a:defRPr>
            </a:pPr>
            <a:r>
              <a:t>MAIN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3312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55064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56816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258568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60320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62072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63824" y="2167128"/>
            <a:ext cx="0" cy="402336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63824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65576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67328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69080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370832" y="2167128"/>
            <a:ext cx="0" cy="402336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370832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72584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74336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76088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77840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79592" y="2167128"/>
            <a:ext cx="0" cy="402336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79592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181344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483096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784848" y="2569464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086600" y="2167128"/>
            <a:ext cx="0" cy="402336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086600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388352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690104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991856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93608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95360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97112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98864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500616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802368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104120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405872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707624" y="2167128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35331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65506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95681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25856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56032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86207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16382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46557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76732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06908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37083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67258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97433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27608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57784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87959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18134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48309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78484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08660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38835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69010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99185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29360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59536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89711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19886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50061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80236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10412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40587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70762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100937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77240" y="3063240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FFC578"/>
                </a:solidFill>
                <a:latin typeface="Microsoft YaHei"/>
              </a:defRPr>
            </a:pPr>
            <a:r>
              <a:t>UART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35331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655064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56816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258568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560320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86207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163824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163824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465576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767328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069080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370832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37083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672584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974336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276088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5577840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87959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181344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181344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483096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784848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086600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086600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38835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7690104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7991856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293608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595360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89711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198864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500616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802368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0104120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040587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707624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35331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65506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95681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225856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56032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286207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16382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46557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76732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406908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437083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67258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97433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27608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557784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587959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618134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648309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678484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08660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38835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69010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99185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29360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59536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89711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919886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950061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80236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010412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040587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70762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100937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777240" y="3895344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FF818C"/>
                </a:solidFill>
                <a:latin typeface="Microsoft YaHei"/>
              </a:defRPr>
            </a:pPr>
            <a:r>
              <a:t>TIM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1353312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655064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956816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2258568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2560320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2862072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3163824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3465576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3767328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069080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370832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2584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974336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276088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5577840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5879592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6181344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6483096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6784848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7086600" y="3831336"/>
            <a:ext cx="0" cy="402336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7086600" y="3831336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7388352" y="3831336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7690104" y="3831336"/>
            <a:ext cx="0" cy="402336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7690104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7991856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8293608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8595360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8897112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9198864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9500616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9802368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10104120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10405872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0707624" y="4233672"/>
            <a:ext cx="301752" cy="0"/>
          </a:xfrm>
          <a:prstGeom prst="line">
            <a:avLst/>
          </a:prstGeom>
          <a:ln w="25400">
            <a:solidFill>
              <a:srgbClr val="FF8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35331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165506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195681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225856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256032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286207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316382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346557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376732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406908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437083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467258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497433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527608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557784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587959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618134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648309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678484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708660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738835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769010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799185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29360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59536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889711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9886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50061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80236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010412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040587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070762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1100937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17"/>
          <p:cNvSpPr txBox="1"/>
          <p:nvPr/>
        </p:nvSpPr>
        <p:spPr>
          <a:xfrm>
            <a:off x="786384" y="4983480"/>
            <a:ext cx="10771632" cy="41148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EDF5FC"/>
                </a:solidFill>
                <a:latin typeface="Microsoft YaHei"/>
              </a:defRPr>
            </a:pPr>
            <a:r>
              <a:t>中断要短；需统计最坏抢占延迟与屏蔽时间，不能只看平均 CPU 占用。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时序图为课堂示意；真实建立时间、保持时间、占空比、边沿完整性需测量。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嵌入式软件分层：从裸机到可维护交付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状态机/控制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810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79440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79440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0413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728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643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日志/队列/调度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5729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500359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00359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1332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647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DRIVER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562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TIM/ADC/USART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66483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721278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21278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22515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95667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BSP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4811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引脚/时钟映射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75673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942197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42197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31705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4857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HAL/LL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4001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MCU 抽象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142232"/>
            <a:ext cx="10689336" cy="75895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315968"/>
            <a:ext cx="1042415" cy="3474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400" b="1">
                <a:solidFill>
                  <a:srgbClr val="52D2E6"/>
                </a:solidFill>
                <a:latin typeface="Microsoft YaHei"/>
              </a:defRPr>
            </a:pPr>
            <a:r>
              <a:t>核心路径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1952" y="4224528"/>
            <a:ext cx="9290304" cy="5303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0">
                <a:solidFill>
                  <a:srgbClr val="EDF5FC"/>
                </a:solidFill>
                <a:latin typeface="Microsoft YaHei"/>
              </a:defRPr>
            </a:pPr>
            <a:r>
              <a:t>上层业务不应直接操作底层寄存器；硬件更版时集中维护 BSP。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工程审查：区分设计假设、芯片规格与示波器实测值；所有图形均可编辑。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裸机 superloop：控制任务为何不能阻塞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TICK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1 ms flag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810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79440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79440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0413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728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643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周期检查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5729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500359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00359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1332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647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CTRL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562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控制算法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66483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721278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21278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22515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95667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COMM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4811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协议解析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75673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942197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42197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31705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4857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WDT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4001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喂狗监控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142232"/>
            <a:ext cx="10689336" cy="75895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315968"/>
            <a:ext cx="1042415" cy="3474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400" b="1">
                <a:solidFill>
                  <a:srgbClr val="52D2E6"/>
                </a:solidFill>
                <a:latin typeface="Microsoft YaHei"/>
              </a:defRPr>
            </a:pPr>
            <a:r>
              <a:t>核心路径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1952" y="4224528"/>
            <a:ext cx="9290304" cy="5303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0">
                <a:solidFill>
                  <a:srgbClr val="EDF5FC"/>
                </a:solidFill>
                <a:latin typeface="Microsoft YaHei"/>
              </a:defRPr>
            </a:pPr>
            <a:r>
              <a:t>使用非阻塞函数；不在关键路径执行长时间 HAL_Delay()。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工程审查：区分设计假设、芯片规格与示波器实测值；所有图形均可编辑。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电机控制状态机：正常路径与异常路径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INIT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硬件自检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9904" y="2862072"/>
            <a:ext cx="23774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42620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42620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35936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9088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IDLE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8232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PWM 关闭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20896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267200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267200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76928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224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条件检查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61888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6108192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108192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17920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闭环运行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02880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7949184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949184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58912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2064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FAULT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1208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切断功率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4387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979017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79017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899904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73056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RECOVER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2200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故障人工复位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142232"/>
            <a:ext cx="10689336" cy="75895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315968"/>
            <a:ext cx="1042415" cy="3474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400" b="1">
                <a:solidFill>
                  <a:srgbClr val="52D2E6"/>
                </a:solidFill>
                <a:latin typeface="Microsoft YaHei"/>
              </a:defRPr>
            </a:pPr>
            <a:r>
              <a:t>核心路径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1952" y="4224528"/>
            <a:ext cx="9290304" cy="5303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0">
                <a:solidFill>
                  <a:srgbClr val="EDF5FC"/>
                </a:solidFill>
                <a:latin typeface="Microsoft YaHei"/>
              </a:defRPr>
            </a:pPr>
            <a:r>
              <a:t>FAULT 状态必须定义禁止动作、状态保持及清除条件。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工程审查：区分设计假设、芯片规格与示波器实测值；所有图形均可编辑。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SYSTEM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速度控制闭环：采样、计算、PWM 更新的位置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67128"/>
            <a:ext cx="2029968" cy="969264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258568"/>
            <a:ext cx="188366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r[k]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651760"/>
            <a:ext cx="1865376" cy="41148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速度设定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87752" y="2633472"/>
            <a:ext cx="192024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688336" y="2587752"/>
            <a:ext cx="91440" cy="45720"/>
          </a:xfrm>
          <a:prstGeom prst="line">
            <a:avLst/>
          </a:prstGeom>
          <a:ln w="2159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688336" y="2633472"/>
            <a:ext cx="91440" cy="45719"/>
          </a:xfrm>
          <a:prstGeom prst="line">
            <a:avLst/>
          </a:prstGeom>
          <a:ln w="2159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07208" y="2167128"/>
            <a:ext cx="2029968" cy="969264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258568"/>
            <a:ext cx="188366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4" y="2651760"/>
            <a:ext cx="1865376" cy="41148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e[k] = r−y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46320" y="2633472"/>
            <a:ext cx="192024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946904" y="2587752"/>
            <a:ext cx="91440" cy="45720"/>
          </a:xfrm>
          <a:prstGeom prst="line">
            <a:avLst/>
          </a:prstGeom>
          <a:ln w="2159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946904" y="2633472"/>
            <a:ext cx="91440" cy="45719"/>
          </a:xfrm>
          <a:prstGeom prst="line">
            <a:avLst/>
          </a:prstGeom>
          <a:ln w="2159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65776" y="2167128"/>
            <a:ext cx="2029968" cy="969264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2258568"/>
            <a:ext cx="188366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PI(z)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2651760"/>
            <a:ext cx="1865376" cy="41148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离散控制器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2633472"/>
            <a:ext cx="192024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7205472" y="2587752"/>
            <a:ext cx="91440" cy="45720"/>
          </a:xfrm>
          <a:prstGeom prst="line">
            <a:avLst/>
          </a:prstGeom>
          <a:ln w="2159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205472" y="2633472"/>
            <a:ext cx="91440" cy="45719"/>
          </a:xfrm>
          <a:prstGeom prst="line">
            <a:avLst/>
          </a:prstGeom>
          <a:ln w="2159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24344" y="2167128"/>
            <a:ext cx="2029968" cy="969264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97496" y="2258568"/>
            <a:ext cx="188366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PWM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651760"/>
            <a:ext cx="1865376" cy="41148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TIM2 / 电机驱动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63456" y="2633472"/>
            <a:ext cx="192024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9464040" y="2587752"/>
            <a:ext cx="91440" cy="45720"/>
          </a:xfrm>
          <a:prstGeom prst="line">
            <a:avLst/>
          </a:prstGeom>
          <a:ln w="2159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464040" y="2633472"/>
            <a:ext cx="91440" cy="45719"/>
          </a:xfrm>
          <a:prstGeom prst="line">
            <a:avLst/>
          </a:prstGeom>
          <a:ln w="2159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82912" y="2167128"/>
            <a:ext cx="2029968" cy="969264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56064" y="2258568"/>
            <a:ext cx="188366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电机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5208" y="2651760"/>
            <a:ext cx="1865376" cy="41148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速度 / 扭矩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84264" y="4187952"/>
            <a:ext cx="2999232" cy="80467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57416" y="4279392"/>
            <a:ext cx="2852927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编码器测量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59" y="4672584"/>
            <a:ext cx="2834639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定时器计数 + 速度滤波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168128" y="3145536"/>
            <a:ext cx="0" cy="1536192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664208" y="4681728"/>
            <a:ext cx="8503920" cy="0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664208" y="3163824"/>
            <a:ext cx="0" cy="1517904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77240" y="5166360"/>
            <a:ext cx="10698480" cy="539496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294376"/>
            <a:ext cx="10314432" cy="2834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0">
                <a:solidFill>
                  <a:srgbClr val="EDF5FC"/>
                </a:solidFill>
                <a:latin typeface="Microsoft YaHei"/>
              </a:defRPr>
            </a:pPr>
            <a:r>
              <a:t>e[k]=r[k]−y[k]；u[k]=Kp·e[k]+Ki·Ts·Σe[i]；必须添加输出限幅与积分抗饱和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注意 20 kHz PWM 载波与 1 ms 控制更新周期不同；所有采样与更新应有明确时基。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REALTIME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实时调度：1 ms 控制周期的 WCET 预算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1444752"/>
            <a:ext cx="10972800" cy="4133087"/>
          </a:xfrm>
          <a:prstGeom prst="round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91056"/>
            <a:ext cx="10351008" cy="32004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1">
                <a:solidFill>
                  <a:srgbClr val="52D2E6"/>
                </a:solidFill>
                <a:latin typeface="Microsoft YaHei"/>
              </a:defRPr>
            </a:pPr>
            <a:r>
              <a:t>样例展示各任务执行段；真实系统应记录最大延迟、抖动与尾部统计。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31136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52D2E6"/>
                </a:solidFill>
                <a:latin typeface="Microsoft YaHei"/>
              </a:defRPr>
            </a:pPr>
            <a:r>
              <a:t>ADC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3312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55064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56816" y="2167128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258568" y="2167128"/>
            <a:ext cx="0" cy="402336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58568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560320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62072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63824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65576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67328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69080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70832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72584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74336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276088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577840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879592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81344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483096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784848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086600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388352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90104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991856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93608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595360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897112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198864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500616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802368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104120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405872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707624" y="2569464"/>
            <a:ext cx="301752" cy="0"/>
          </a:xfrm>
          <a:prstGeom prst="line">
            <a:avLst/>
          </a:prstGeom>
          <a:ln w="25400">
            <a:solidFill>
              <a:srgbClr val="5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35331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65506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95681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25856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56032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86207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6382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46557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76732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06908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7083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67258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97433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7608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7784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87959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18134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48309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78484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08660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38835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69010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99185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29360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59536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89711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19886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50061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802368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104120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405872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707624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1009376" y="1993392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777240" y="3063240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FFC578"/>
                </a:solidFill>
                <a:latin typeface="Microsoft YaHei"/>
              </a:defRPr>
            </a:pPr>
            <a:r>
              <a:t>CTRL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35331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655064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956816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258568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258568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560320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862072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163824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465576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767328" y="2999232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069080" y="2999232"/>
            <a:ext cx="0" cy="402336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069080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7083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72584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974336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276088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577840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87959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181344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483096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784848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086600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38835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7690104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991856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293608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595360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89711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198864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500616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802368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104120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405872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0707624" y="3401568"/>
            <a:ext cx="301752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35331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65506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95681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25856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256032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286207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16382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46557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76732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406908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437083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467258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497433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527608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557784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587959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618134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648309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678484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708660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38835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69010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99185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29360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59536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89711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919886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950061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9802368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104120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405872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707624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1009376" y="2825496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777240" y="3895344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82E2B5"/>
                </a:solidFill>
                <a:latin typeface="Microsoft YaHei"/>
              </a:defRPr>
            </a:pPr>
            <a:r>
              <a:t>COMM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353312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655064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956816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2258568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2560320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2862072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163824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465576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3767328" y="3831336"/>
            <a:ext cx="0" cy="402336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3767328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069080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370832" y="3831336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672584" y="3831336"/>
            <a:ext cx="0" cy="402336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672584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974336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76088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577840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879592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6181344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6483096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6784848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7086600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7388352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7690104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7991856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8293608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8595360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8897112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9198864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9500616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9802368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104120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405872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707624" y="4233672"/>
            <a:ext cx="301752" cy="0"/>
          </a:xfrm>
          <a:prstGeom prst="line">
            <a:avLst/>
          </a:prstGeom>
          <a:ln w="25400">
            <a:solidFill>
              <a:srgbClr val="82E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35331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165506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195681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225856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256032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286207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316382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346557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376732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406908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437083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467258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497433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527608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557784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587959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18134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48309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78484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708660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738835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769010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799185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29360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9536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89711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919886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50061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802368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104120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405872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707624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1009376" y="3657600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777240" y="4727448"/>
            <a:ext cx="594360" cy="25603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100" b="1">
                <a:solidFill>
                  <a:srgbClr val="85ACFD"/>
                </a:solidFill>
                <a:latin typeface="Microsoft YaHei"/>
              </a:defRPr>
            </a:pPr>
            <a:r>
              <a:t>IDLE</a:t>
            </a:r>
          </a:p>
        </p:txBody>
      </p:sp>
      <p:cxnSp>
        <p:nvCxnSpPr>
          <p:cNvPr id="214" name="Connector 213"/>
          <p:cNvCxnSpPr/>
          <p:nvPr/>
        </p:nvCxnSpPr>
        <p:spPr>
          <a:xfrm>
            <a:off x="1353312" y="5065776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655064" y="5065776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956816" y="5065776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2258568" y="5065776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2560320" y="5065776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2862072" y="5065776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3163824" y="5065776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3465576" y="5065776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3767328" y="5065776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4069080" y="5065776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4370832" y="5065776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4672584" y="4663440"/>
            <a:ext cx="0" cy="402336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4672584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4974336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5276088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5577840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5879592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6181344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6483096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6784848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7086600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7388352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7690104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7991856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8293608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8595360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8897112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9198864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9500616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9802368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104120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405872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707624" y="4663440"/>
            <a:ext cx="301752" cy="0"/>
          </a:xfrm>
          <a:prstGeom prst="line">
            <a:avLst/>
          </a:prstGeom>
          <a:ln w="25400">
            <a:solidFill>
              <a:srgbClr val="85A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353312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655064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956816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2258568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2560320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2862072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3163824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3465576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3767328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4069080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4370832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4672584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4974336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5276088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5577840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5879592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6181344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6483096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6784848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7086600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7388352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7690104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7991856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8293608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8595360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8897112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9198864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9500616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9802368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0104120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0405872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10707624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11009376" y="4489704"/>
            <a:ext cx="0" cy="704088"/>
          </a:xfrm>
          <a:prstGeom prst="line">
            <a:avLst/>
          </a:prstGeom>
          <a:ln w="4572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TextBox 279"/>
          <p:cNvSpPr txBox="1"/>
          <p:nvPr/>
        </p:nvSpPr>
        <p:spPr>
          <a:xfrm>
            <a:off x="786384" y="4983480"/>
            <a:ext cx="10771632" cy="41148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EDF5FC"/>
                </a:solidFill>
                <a:latin typeface="Microsoft YaHei"/>
              </a:defRPr>
            </a:pPr>
            <a:r>
              <a:t>调度是否达标必须覆盖最坏通信输入、故障路径与高负载。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时序图为课堂示意；真实建立时间、保持时间、占空比、边沿完整性需测量。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应用协议：序列号、长度、CRC 与帧状态机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SOF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固定同步字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9904" y="2862072"/>
            <a:ext cx="23774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42620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42620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35936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9088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LEN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8232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限制最大长度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20896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267200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267200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76928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SEQ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224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丢帧检测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61888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6108192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108192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17920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CMD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命令/状态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02880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7949184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949184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58912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2064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1208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有效载荷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4387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979017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79017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899904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73056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CRC16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2200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错误检测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142232"/>
            <a:ext cx="10689336" cy="75895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315968"/>
            <a:ext cx="1042415" cy="3474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400" b="1">
                <a:solidFill>
                  <a:srgbClr val="52D2E6"/>
                </a:solidFill>
                <a:latin typeface="Microsoft YaHei"/>
              </a:defRPr>
            </a:pPr>
            <a:r>
              <a:t>核心路径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1952" y="4224528"/>
            <a:ext cx="9290304" cy="5303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0">
                <a:solidFill>
                  <a:srgbClr val="EDF5FC"/>
                </a:solidFill>
                <a:latin typeface="Microsoft YaHei"/>
              </a:defRPr>
            </a:pPr>
            <a:r>
              <a:t>接收实现 WAIT_SOF→HEADER→PAYLOAD→CRC→DISPATCH；CRC 并不等于安全认证。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工程审查：区分设计假设、芯片规格与示波器实测值；所有图形均可编辑。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EMC / PCB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PCB 工程：电源完整性与信号回流路径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DC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保护/滤波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810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79440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79440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0413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728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BUCK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643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瞬态/纹波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5729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500359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00359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13324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6476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3V3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5620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去耦电容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66483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721278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21278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22515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95667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MCU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4811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短回流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75673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942197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42197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31705" y="2240280"/>
            <a:ext cx="1953158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4857" y="2331720"/>
            <a:ext cx="1806854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DRIVER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4001" y="2724912"/>
            <a:ext cx="1788566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隔离噪声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142232"/>
            <a:ext cx="10689336" cy="75895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315968"/>
            <a:ext cx="1042415" cy="3474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400" b="1">
                <a:solidFill>
                  <a:srgbClr val="52D2E6"/>
                </a:solidFill>
                <a:latin typeface="Microsoft YaHei"/>
              </a:defRPr>
            </a:pPr>
            <a:r>
              <a:t>核心路径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1952" y="4224528"/>
            <a:ext cx="9290304" cy="5303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0">
                <a:solidFill>
                  <a:srgbClr val="EDF5FC"/>
                </a:solidFill>
                <a:latin typeface="Microsoft YaHei"/>
              </a:defRPr>
            </a:pPr>
            <a:r>
              <a:t>高 di/dt 电流环路尽可能短；定时采样须避开功率噪声高峰。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工程审查：区分设计假设、芯片规格与示波器实测值；所有图形均可编辑。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故障树：USART 偶发 CRC 错误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511296" cy="786384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1600200"/>
            <a:ext cx="3364991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串口数据损坏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1993391"/>
            <a:ext cx="3346703" cy="22860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异常事件 / 顶层失效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09544"/>
            <a:ext cx="2000707" cy="1271016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300984"/>
            <a:ext cx="1854403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电气层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694176"/>
            <a:ext cx="1836115" cy="713231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电平/共地/干扰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9048" y="2295144"/>
            <a:ext cx="0" cy="274320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768449" y="2569464"/>
            <a:ext cx="4330599" cy="0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68449" y="2569464"/>
            <a:ext cx="0" cy="612648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51099" y="3209544"/>
            <a:ext cx="2000707" cy="1271016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4251" y="3300984"/>
            <a:ext cx="1854403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时钟层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3395" y="3694176"/>
            <a:ext cx="1836115" cy="713231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波特率误差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2295144"/>
            <a:ext cx="0" cy="274320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933748" y="2569464"/>
            <a:ext cx="2165300" cy="0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933748" y="2569464"/>
            <a:ext cx="0" cy="612648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16398" y="3209544"/>
            <a:ext cx="2000707" cy="1271016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9550" y="3300984"/>
            <a:ext cx="1854403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中断层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8694" y="3694176"/>
            <a:ext cx="1836115" cy="713231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响应超时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9048" y="2295144"/>
            <a:ext cx="0" cy="274320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2569464"/>
            <a:ext cx="0" cy="0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9048" y="2569464"/>
            <a:ext cx="0" cy="612648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181697" y="3209544"/>
            <a:ext cx="2000707" cy="1271016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54849" y="3300984"/>
            <a:ext cx="1854403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缓存层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3993" y="3694176"/>
            <a:ext cx="1836115" cy="713231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DMA 覆盖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99048" y="2295144"/>
            <a:ext cx="0" cy="274320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099048" y="2569464"/>
            <a:ext cx="2165299" cy="0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64347" y="2569464"/>
            <a:ext cx="0" cy="612648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346996" y="3209544"/>
            <a:ext cx="2000707" cy="1271016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20148" y="3300984"/>
            <a:ext cx="1854403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协议层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29292" y="3694176"/>
            <a:ext cx="1836115" cy="713231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粘包/CRC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99048" y="2295144"/>
            <a:ext cx="0" cy="274320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99048" y="2569464"/>
            <a:ext cx="4330598" cy="0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429646" y="2569464"/>
            <a:ext cx="0" cy="612648"/>
          </a:xfrm>
          <a:prstGeom prst="line">
            <a:avLst/>
          </a:prstGeom>
          <a:ln w="2032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58952" y="5010912"/>
            <a:ext cx="10680192" cy="62179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5129784"/>
            <a:ext cx="10259568" cy="32918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0">
                <a:solidFill>
                  <a:srgbClr val="EDF5FC"/>
                </a:solidFill>
                <a:latin typeface="Microsoft YaHei"/>
              </a:defRPr>
            </a:pPr>
            <a:r>
              <a:t>排查证据链：波形→抓包→缓冲指针→错误计数→压力复现。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根因树每一个分支应匹配真实可测信号、重现条件和缺陷处理记录。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Code Review：工业项目至少审哪些项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对象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6139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6724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必须检查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7336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典型隐患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8532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29115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审查方法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中断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6139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6724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短 ISR / 优先级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17336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抢占和抖动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8532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29115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Trace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缓冲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6139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6724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生命周期/原子性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17336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覆盖/越界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8532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9115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边界测试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控制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6139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6724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限幅/失效保护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336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积分饱和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28532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9115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故障注入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接口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6139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06724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CRC/超时/重试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17336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错误恢复失败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28532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29115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模糊测试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" y="4572000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" y="4617720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参数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06139" y="4572000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06724" y="4617720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单位/量程/默认值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17336" y="4572000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4617720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量纲错误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8532" y="4572000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29115" y="4617720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参数表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" y="5230368"/>
            <a:ext cx="10625328" cy="493776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552" y="5312664"/>
            <a:ext cx="10222992" cy="3017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EDF5FC"/>
                </a:solidFill>
                <a:latin typeface="Microsoft YaHei"/>
              </a:defRPr>
            </a:pPr>
            <a:r>
              <a:t>交付不只是源码：应保留电路图、接口说明、量化指标及测试报告。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条件、指标与阈值仅用于 STM32F103C8T6 的教学设计；投产时需对照具体板卡修订。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集成验证矩阵：测试必须覆盖失效路径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测试对象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6139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6724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输入刺激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7336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验收条件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8532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29115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证据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Clock/Reset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6139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6724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反复上电/欠压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17336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可重复启动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8532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29115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NRST / SWD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PWM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6139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6724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扫占空比/更新边界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17336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无异常脉宽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8532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9115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示波器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ADC/DMA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6139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6724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突变/持续采样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336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无缓冲数据错位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28532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9115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日志/波形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UART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6139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06724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粘包/断链/CRC 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17336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正确恢复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28532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29115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抓包记录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" y="4572000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" y="4617720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Safety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06139" y="4572000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06724" y="4617720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过流/断传感器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17336" y="4572000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4617720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及时关断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8532" y="4572000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29115" y="4617720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故障注入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" y="5230368"/>
            <a:ext cx="10625328" cy="493776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552" y="5312664"/>
            <a:ext cx="10222992" cy="3017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EDF5FC"/>
                </a:solidFill>
                <a:latin typeface="Microsoft YaHei"/>
              </a:defRPr>
            </a:pPr>
            <a:r>
              <a:t>需由项目批准量化阈值，所有 test case 保留版本、波形与原始数据。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条件、指标与阈值仅用于 STM32F103C8T6 的教学设计；投产时需对照具体板卡修订。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算例复盘：20 kHz PWM + 1 ms 控制周期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步骤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6139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6724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设定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7336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推导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8532" y="1499616"/>
            <a:ext cx="2711196" cy="438912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29115" y="1581912"/>
            <a:ext cx="2592324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52D2E6"/>
                </a:solidFill>
                <a:latin typeface="Microsoft YaHei"/>
              </a:defRPr>
            </a:pPr>
            <a:r>
              <a:t>最终结果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时钟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6139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6724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8 MHz×9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17336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PLL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8532" y="1938528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29115" y="1984248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72 MHz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APB1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6139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6724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HCLK /2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17336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TIM×2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8532" y="2596896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9115" y="2642615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72 MHz TIM2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PWM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6139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6724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PSC 71 / ARR 49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17336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72M/(72×50)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28532" y="3255264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9115" y="3300984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20 kHz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占空比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6139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06724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CCR 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17336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15/50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28532" y="3913632"/>
            <a:ext cx="2711196" cy="658368"/>
          </a:xfrm>
          <a:prstGeom prst="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29115" y="3959352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30%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" y="4572000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" y="4617720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1">
                <a:solidFill>
                  <a:srgbClr val="EDF5FC"/>
                </a:solidFill>
                <a:latin typeface="Microsoft YaHei"/>
              </a:defRPr>
            </a:pPr>
            <a:r>
              <a:t>UART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06139" y="4572000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06724" y="4617720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115200 8N1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17336" y="4572000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4617720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115200/10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8532" y="4572000"/>
            <a:ext cx="2711196" cy="658368"/>
          </a:xfrm>
          <a:prstGeom prst="rect">
            <a:avLst/>
          </a:prstGeom>
          <a:solidFill>
            <a:srgbClr val="11263E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29115" y="4617720"/>
            <a:ext cx="2537460" cy="5669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ADC2D2"/>
                </a:solidFill>
                <a:latin typeface="Microsoft YaHei"/>
              </a:defRPr>
            </a:pPr>
            <a:r>
              <a:t>11.52 kB/s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" y="5230368"/>
            <a:ext cx="10625328" cy="493776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552" y="5312664"/>
            <a:ext cx="10222992" cy="3017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200" b="0">
                <a:solidFill>
                  <a:srgbClr val="EDF5FC"/>
                </a:solidFill>
                <a:latin typeface="Microsoft YaHei"/>
              </a:defRPr>
            </a:pPr>
            <a:r>
              <a:t>不要把 20 kHz PWM 输出更新与每 1 ms 的速度闭环控制周期混淆。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条件、指标与阈值仅用于 STM32F103C8T6 的教学设计；投产时需对照具体板卡修订。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24688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900" b="1">
                <a:solidFill>
                  <a:srgbClr val="52D2E6"/>
                </a:solidFill>
                <a:latin typeface="Microsoft YaHei"/>
              </a:defRPr>
            </a:pPr>
            <a:r>
              <a:t>EMBEDDED SYSTEMS  /  FINAL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475488"/>
            <a:ext cx="11247120" cy="5760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2400" b="1">
                <a:solidFill>
                  <a:srgbClr val="EDF5FC"/>
                </a:solidFill>
                <a:latin typeface="Microsoft YaHei"/>
              </a:defRPr>
            </a:pPr>
            <a:r>
              <a:t>课程验收：能推导、能测量、能定位、能交付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61288"/>
            <a:ext cx="11265408" cy="0"/>
          </a:xfrm>
          <a:prstGeom prst="line">
            <a:avLst/>
          </a:prstGeom>
          <a:ln w="12700">
            <a:solidFill>
              <a:srgbClr val="355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10528"/>
            <a:ext cx="7955279" cy="173736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800" b="0">
                <a:solidFill>
                  <a:srgbClr val="ADC2D2"/>
                </a:solidFill>
                <a:latin typeface="Microsoft YaHei"/>
              </a:defRPr>
            </a:pPr>
            <a:r>
              <a:t>STM32 · ENGINEERING DIAGRAM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92256" y="6501384"/>
            <a:ext cx="502920" cy="19202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900" b="0">
                <a:solidFill>
                  <a:srgbClr val="ADC2D2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理论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解释寄存器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9904" y="2862072"/>
            <a:ext cx="237743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426207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426207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35936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9088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8232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资源和指标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20896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267200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267200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76928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9224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驱动/状态机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61888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6108192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108192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17920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测量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时序证据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02880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7949184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949184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58912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2064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排故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1208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故障树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43872" y="2862072"/>
            <a:ext cx="237744" cy="0"/>
          </a:xfrm>
          <a:prstGeom prst="line">
            <a:avLst/>
          </a:prstGeom>
          <a:ln w="2540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9790176" y="2816352"/>
            <a:ext cx="91440" cy="45720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790176" y="2862072"/>
            <a:ext cx="91440" cy="45719"/>
          </a:xfrm>
          <a:prstGeom prst="line">
            <a:avLst/>
          </a:prstGeom>
          <a:ln w="21590">
            <a:solidFill>
              <a:srgbClr val="FFC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899904" y="2240280"/>
            <a:ext cx="1584960" cy="1298448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73056" y="2331720"/>
            <a:ext cx="1438656" cy="338328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500" b="1">
                <a:solidFill>
                  <a:srgbClr val="EDF5FC"/>
                </a:solidFill>
                <a:latin typeface="Microsoft YaHei"/>
              </a:defRPr>
            </a:pPr>
            <a:r>
              <a:t>交付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2200" y="2724912"/>
            <a:ext cx="1420368" cy="740664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 algn="ctr"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版本和验收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142232"/>
            <a:ext cx="10689336" cy="758952"/>
          </a:xfrm>
          <a:prstGeom prst="roundRect">
            <a:avLst/>
          </a:prstGeom>
          <a:solidFill>
            <a:srgbClr val="193653"/>
          </a:solidFill>
          <a:ln w="11430">
            <a:solidFill>
              <a:srgbClr val="355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315968"/>
            <a:ext cx="1042415" cy="34747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400" b="1">
                <a:solidFill>
                  <a:srgbClr val="52D2E6"/>
                </a:solidFill>
                <a:latin typeface="Microsoft YaHei"/>
              </a:defRPr>
            </a:pPr>
            <a:r>
              <a:t>核心路径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1952" y="4224528"/>
            <a:ext cx="9290304" cy="530352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300" b="0">
                <a:solidFill>
                  <a:srgbClr val="EDF5FC"/>
                </a:solidFill>
                <a:latin typeface="Microsoft YaHei"/>
              </a:defRPr>
            </a:pPr>
            <a:r>
              <a:t>综合作业：完成 PWM+ADC+UART 电机测控系统的框图、参数表和测试记录。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861304"/>
            <a:ext cx="10954512" cy="411480"/>
          </a:xfrm>
          <a:prstGeom prst="rect">
            <a:avLst/>
          </a:prstGeom>
          <a:solidFill>
            <a:srgbClr val="11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5934456"/>
            <a:ext cx="10652760" cy="274320"/>
          </a:xfrm>
          <a:prstGeom prst="rect">
            <a:avLst/>
          </a:prstGeom>
          <a:noFill/>
        </p:spPr>
        <p:txBody>
          <a:bodyPr wrap="square" lIns="59436" rIns="59436" tIns="18288" bIns="9144" anchor="ctr">
            <a:spAutoFit/>
          </a:bodyPr>
          <a:lstStyle/>
          <a:p>
            <a:pPr>
              <a:defRPr sz="1000" b="0">
                <a:solidFill>
                  <a:srgbClr val="ADC2D2"/>
                </a:solidFill>
                <a:latin typeface="Microsoft YaHei"/>
              </a:defRPr>
            </a:pPr>
            <a:r>
              <a:t>工程审查：区分设计假设、芯片规格与示波器实测值；所有图形均可编辑。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