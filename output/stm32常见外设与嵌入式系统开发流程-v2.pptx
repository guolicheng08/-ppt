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622743e25d4199" /><Relationship Type="http://schemas.openxmlformats.org/officeDocument/2006/relationships/extended-properties" Target="/docProps/app.xml" Id="R0a911cca69f340a1" /><Relationship Type="http://schemas.openxmlformats.org/officeDocument/2006/relationships/officeDocument" Target="/ppt/presentation.xml" Id="R6dc22d2ca83348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bdb4301bd5485f"/>
  </p:sldMasterIdLst>
  <p:notesMasterIdLst>
    <p:notesMasterId xmlns:r="http://schemas.openxmlformats.org/officeDocument/2006/relationships" r:id="R6e598063d5464dcf"/>
  </p:notesMasterIdLst>
  <p:sldIdLst>
    <p:sldId xmlns:r="http://schemas.openxmlformats.org/officeDocument/2006/relationships" id="256" r:id="R5601b39d04b546ca"/>
    <p:sldId xmlns:r="http://schemas.openxmlformats.org/officeDocument/2006/relationships" id="257" r:id="Ref16ea37765840ca"/>
    <p:sldId xmlns:r="http://schemas.openxmlformats.org/officeDocument/2006/relationships" id="258" r:id="R7e471d95911b469d"/>
    <p:sldId xmlns:r="http://schemas.openxmlformats.org/officeDocument/2006/relationships" id="259" r:id="R518fee2a7bbb49c7"/>
    <p:sldId xmlns:r="http://schemas.openxmlformats.org/officeDocument/2006/relationships" id="260" r:id="Rf3b277b2463d43af"/>
    <p:sldId xmlns:r="http://schemas.openxmlformats.org/officeDocument/2006/relationships" id="261" r:id="R06641431c8e04d19"/>
    <p:sldId xmlns:r="http://schemas.openxmlformats.org/officeDocument/2006/relationships" id="262" r:id="R230b21db5e254577"/>
    <p:sldId xmlns:r="http://schemas.openxmlformats.org/officeDocument/2006/relationships" id="263" r:id="R23748d388f804310"/>
    <p:sldId xmlns:r="http://schemas.openxmlformats.org/officeDocument/2006/relationships" id="264" r:id="R9df2510f70be4abb"/>
    <p:sldId xmlns:r="http://schemas.openxmlformats.org/officeDocument/2006/relationships" id="265" r:id="R5c43fa6f9b6b470c"/>
    <p:sldId xmlns:r="http://schemas.openxmlformats.org/officeDocument/2006/relationships" id="266" r:id="Rc7ba4eaf1bb34c83"/>
    <p:sldId xmlns:r="http://schemas.openxmlformats.org/officeDocument/2006/relationships" id="267" r:id="R9c2c818af676467e"/>
    <p:sldId xmlns:r="http://schemas.openxmlformats.org/officeDocument/2006/relationships" id="268" r:id="R3f82c8f03a1345a5"/>
    <p:sldId xmlns:r="http://schemas.openxmlformats.org/officeDocument/2006/relationships" id="269" r:id="R7f4758137d434b3c"/>
    <p:sldId xmlns:r="http://schemas.openxmlformats.org/officeDocument/2006/relationships" id="270" r:id="R7b3a10a81e50433d"/>
    <p:sldId xmlns:r="http://schemas.openxmlformats.org/officeDocument/2006/relationships" id="271" r:id="R462da8a73d814b66"/>
    <p:sldId xmlns:r="http://schemas.openxmlformats.org/officeDocument/2006/relationships" id="272" r:id="R64fe6b742a8c404e"/>
    <p:sldId xmlns:r="http://schemas.openxmlformats.org/officeDocument/2006/relationships" id="273" r:id="R76c31d1fa15541ab"/>
    <p:sldId xmlns:r="http://schemas.openxmlformats.org/officeDocument/2006/relationships" id="274" r:id="R3b50cfd3eb664b58"/>
    <p:sldId xmlns:r="http://schemas.openxmlformats.org/officeDocument/2006/relationships" id="275" r:id="R6d58ddb0ea6046b5"/>
    <p:sldId xmlns:r="http://schemas.openxmlformats.org/officeDocument/2006/relationships" id="276" r:id="Rcb8b6a3725d94ab6"/>
    <p:sldId xmlns:r="http://schemas.openxmlformats.org/officeDocument/2006/relationships" id="277" r:id="Rb80c360b71fd41b1"/>
    <p:sldId xmlns:r="http://schemas.openxmlformats.org/officeDocument/2006/relationships" id="278" r:id="R342434f04c274173"/>
    <p:sldId xmlns:r="http://schemas.openxmlformats.org/officeDocument/2006/relationships" id="279" r:id="R5334749beb754ac9"/>
    <p:sldId xmlns:r="http://schemas.openxmlformats.org/officeDocument/2006/relationships" id="280" r:id="R40e055d4577e49fc"/>
    <p:sldId xmlns:r="http://schemas.openxmlformats.org/officeDocument/2006/relationships" id="281" r:id="R6b989becd01a444c"/>
    <p:sldId xmlns:r="http://schemas.openxmlformats.org/officeDocument/2006/relationships" id="282" r:id="R3a6f770a65ad4f68"/>
    <p:sldId xmlns:r="http://schemas.openxmlformats.org/officeDocument/2006/relationships" id="283" r:id="R8d282968ad3f467e"/>
    <p:sldId xmlns:r="http://schemas.openxmlformats.org/officeDocument/2006/relationships" id="284" r:id="R482d3baf47f44aab"/>
    <p:sldId xmlns:r="http://schemas.openxmlformats.org/officeDocument/2006/relationships" id="285" r:id="Rf73a493d16f743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625c3d44b74cbe" /><Relationship Type="http://schemas.openxmlformats.org/officeDocument/2006/relationships/slideMaster" Target="/ppt/slideMasters/slideMaster1.xml" Id="R96bdb4301bd5485f" /><Relationship Type="http://schemas.openxmlformats.org/officeDocument/2006/relationships/notesMaster" Target="/ppt/notesMasters/notesMaster1.xml" Id="R6e598063d5464dcf" /><Relationship Type="http://schemas.openxmlformats.org/officeDocument/2006/relationships/presProps" Target="/ppt/presProps.xml" Id="R085a5a28f0de4415" /><Relationship Type="http://schemas.openxmlformats.org/officeDocument/2006/relationships/tableStyles" Target="/ppt/tableStyles.xml" Id="R33ec9ac4563d464a" /><Relationship Type="http://schemas.openxmlformats.org/officeDocument/2006/relationships/slide" Target="/ppt/slides/slide1.xml" Id="R5601b39d04b546ca" /><Relationship Type="http://schemas.openxmlformats.org/officeDocument/2006/relationships/slide" Target="/ppt/slides/slide2.xml" Id="Ref16ea37765840ca" /><Relationship Type="http://schemas.openxmlformats.org/officeDocument/2006/relationships/slide" Target="/ppt/slides/slide3.xml" Id="R7e471d95911b469d" /><Relationship Type="http://schemas.openxmlformats.org/officeDocument/2006/relationships/slide" Target="/ppt/slides/slide4.xml" Id="R518fee2a7bbb49c7" /><Relationship Type="http://schemas.openxmlformats.org/officeDocument/2006/relationships/slide" Target="/ppt/slides/slide5.xml" Id="Rf3b277b2463d43af" /><Relationship Type="http://schemas.openxmlformats.org/officeDocument/2006/relationships/slide" Target="/ppt/slides/slide6.xml" Id="R06641431c8e04d19" /><Relationship Type="http://schemas.openxmlformats.org/officeDocument/2006/relationships/slide" Target="/ppt/slides/slide7.xml" Id="R230b21db5e254577" /><Relationship Type="http://schemas.openxmlformats.org/officeDocument/2006/relationships/slide" Target="/ppt/slides/slide8.xml" Id="R23748d388f804310" /><Relationship Type="http://schemas.openxmlformats.org/officeDocument/2006/relationships/slide" Target="/ppt/slides/slide9.xml" Id="R9df2510f70be4abb" /><Relationship Type="http://schemas.openxmlformats.org/officeDocument/2006/relationships/slide" Target="/ppt/slides/slide10.xml" Id="R5c43fa6f9b6b470c" /><Relationship Type="http://schemas.openxmlformats.org/officeDocument/2006/relationships/slide" Target="/ppt/slides/slide11.xml" Id="Rc7ba4eaf1bb34c83" /><Relationship Type="http://schemas.openxmlformats.org/officeDocument/2006/relationships/slide" Target="/ppt/slides/slide12.xml" Id="R9c2c818af676467e" /><Relationship Type="http://schemas.openxmlformats.org/officeDocument/2006/relationships/slide" Target="/ppt/slides/slide13.xml" Id="R3f82c8f03a1345a5" /><Relationship Type="http://schemas.openxmlformats.org/officeDocument/2006/relationships/slide" Target="/ppt/slides/slide14.xml" Id="R7f4758137d434b3c" /><Relationship Type="http://schemas.openxmlformats.org/officeDocument/2006/relationships/slide" Target="/ppt/slides/slide15.xml" Id="R7b3a10a81e50433d" /><Relationship Type="http://schemas.openxmlformats.org/officeDocument/2006/relationships/slide" Target="/ppt/slides/slide16.xml" Id="R462da8a73d814b66" /><Relationship Type="http://schemas.openxmlformats.org/officeDocument/2006/relationships/slide" Target="/ppt/slides/slide17.xml" Id="R64fe6b742a8c404e" /><Relationship Type="http://schemas.openxmlformats.org/officeDocument/2006/relationships/slide" Target="/ppt/slides/slide18.xml" Id="R76c31d1fa15541ab" /><Relationship Type="http://schemas.openxmlformats.org/officeDocument/2006/relationships/slide" Target="/ppt/slides/slide19.xml" Id="R3b50cfd3eb664b58" /><Relationship Type="http://schemas.openxmlformats.org/officeDocument/2006/relationships/slide" Target="/ppt/slides/slide20.xml" Id="R6d58ddb0ea6046b5" /><Relationship Type="http://schemas.openxmlformats.org/officeDocument/2006/relationships/slide" Target="/ppt/slides/slide21.xml" Id="Rcb8b6a3725d94ab6" /><Relationship Type="http://schemas.openxmlformats.org/officeDocument/2006/relationships/slide" Target="/ppt/slides/slide22.xml" Id="Rb80c360b71fd41b1" /><Relationship Type="http://schemas.openxmlformats.org/officeDocument/2006/relationships/slide" Target="/ppt/slides/slide23.xml" Id="R342434f04c274173" /><Relationship Type="http://schemas.openxmlformats.org/officeDocument/2006/relationships/slide" Target="/ppt/slides/slide24.xml" Id="R5334749beb754ac9" /><Relationship Type="http://schemas.openxmlformats.org/officeDocument/2006/relationships/slide" Target="/ppt/slides/slide25.xml" Id="R40e055d4577e49fc" /><Relationship Type="http://schemas.openxmlformats.org/officeDocument/2006/relationships/slide" Target="/ppt/slides/slide26.xml" Id="R6b989becd01a444c" /><Relationship Type="http://schemas.openxmlformats.org/officeDocument/2006/relationships/slide" Target="/ppt/slides/slide27.xml" Id="R3a6f770a65ad4f68" /><Relationship Type="http://schemas.openxmlformats.org/officeDocument/2006/relationships/slide" Target="/ppt/slides/slide28.xml" Id="R8d282968ad3f467e" /><Relationship Type="http://schemas.openxmlformats.org/officeDocument/2006/relationships/slide" Target="/ppt/slides/slide29.xml" Id="R482d3baf47f44aab" /><Relationship Type="http://schemas.openxmlformats.org/officeDocument/2006/relationships/slide" Target="/ppt/slides/slide30.xml" Id="Rf73a493d16f743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a5924056a947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b91b56e61a4a73" /><Relationship Type="http://schemas.openxmlformats.org/officeDocument/2006/relationships/notesMaster" Target="/ppt/notesMasters/notesMaster1.xml" Id="Ra04730140ba143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e7e9d8ad3843bc" /><Relationship Type="http://schemas.openxmlformats.org/officeDocument/2006/relationships/notesMaster" Target="/ppt/notesMasters/notesMaster1.xml" Id="R40b706161d6f46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27b6c6a8274ff0" /><Relationship Type="http://schemas.openxmlformats.org/officeDocument/2006/relationships/notesMaster" Target="/ppt/notesMasters/notesMaster1.xml" Id="R56cbf143567041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30bcaa5aa24207" /><Relationship Type="http://schemas.openxmlformats.org/officeDocument/2006/relationships/notesMaster" Target="/ppt/notesMasters/notesMaster1.xml" Id="R584711235f0f4a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7fec7777a94a35" /><Relationship Type="http://schemas.openxmlformats.org/officeDocument/2006/relationships/notesMaster" Target="/ppt/notesMasters/notesMaster1.xml" Id="Rbb92bb519bc548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a94d5e6f534a65" /><Relationship Type="http://schemas.openxmlformats.org/officeDocument/2006/relationships/notesMaster" Target="/ppt/notesMasters/notesMaster1.xml" Id="Rf088feabf58a48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920b00ca1a450f" /><Relationship Type="http://schemas.openxmlformats.org/officeDocument/2006/relationships/notesMaster" Target="/ppt/notesMasters/notesMaster1.xml" Id="R0d116f62320948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cfc0fc78d24e02" /><Relationship Type="http://schemas.openxmlformats.org/officeDocument/2006/relationships/notesMaster" Target="/ppt/notesMasters/notesMaster1.xml" Id="R113962ade6f44c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f854d1283c4f72" /><Relationship Type="http://schemas.openxmlformats.org/officeDocument/2006/relationships/notesMaster" Target="/ppt/notesMasters/notesMaster1.xml" Id="R5174e036f53d4c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00ddfd4bc34ed7" /><Relationship Type="http://schemas.openxmlformats.org/officeDocument/2006/relationships/notesMaster" Target="/ppt/notesMasters/notesMaster1.xml" Id="R9b52392c3a034b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60b9e986b74f8e" /><Relationship Type="http://schemas.openxmlformats.org/officeDocument/2006/relationships/notesMaster" Target="/ppt/notesMasters/notesMaster1.xml" Id="Raf7d77adc3ed47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046513333a4572" /><Relationship Type="http://schemas.openxmlformats.org/officeDocument/2006/relationships/notesMaster" Target="/ppt/notesMasters/notesMaster1.xml" Id="R6d699f4684da43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3f2b02ae53430d" /><Relationship Type="http://schemas.openxmlformats.org/officeDocument/2006/relationships/notesMaster" Target="/ppt/notesMasters/notesMaster1.xml" Id="R946487b9cb114b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832a6fff9749cb" /><Relationship Type="http://schemas.openxmlformats.org/officeDocument/2006/relationships/notesMaster" Target="/ppt/notesMasters/notesMaster1.xml" Id="Rb0a3d5348e454e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4cced8243442c5" /><Relationship Type="http://schemas.openxmlformats.org/officeDocument/2006/relationships/notesMaster" Target="/ppt/notesMasters/notesMaster1.xml" Id="Rf47b59d601e847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f8a81fb11e4eae" /><Relationship Type="http://schemas.openxmlformats.org/officeDocument/2006/relationships/notesMaster" Target="/ppt/notesMasters/notesMaster1.xml" Id="R8776768ccc6a45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a62fd43b82e4211" /><Relationship Type="http://schemas.openxmlformats.org/officeDocument/2006/relationships/notesMaster" Target="/ppt/notesMasters/notesMaster1.xml" Id="R972787b962f0485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d24e469a18e42ea" /><Relationship Type="http://schemas.openxmlformats.org/officeDocument/2006/relationships/notesMaster" Target="/ppt/notesMasters/notesMaster1.xml" Id="R71dbcc6a78b0452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567a7a387e04590" /><Relationship Type="http://schemas.openxmlformats.org/officeDocument/2006/relationships/notesMaster" Target="/ppt/notesMasters/notesMaster1.xml" Id="Rfa15d3669eac453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6874798fa0c4161" /><Relationship Type="http://schemas.openxmlformats.org/officeDocument/2006/relationships/notesMaster" Target="/ppt/notesMasters/notesMaster1.xml" Id="Rc6456a77690f487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dd62a7fbfab4d26" /><Relationship Type="http://schemas.openxmlformats.org/officeDocument/2006/relationships/notesMaster" Target="/ppt/notesMasters/notesMaster1.xml" Id="R5a20f18936e943d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e7329a885524754" /><Relationship Type="http://schemas.openxmlformats.org/officeDocument/2006/relationships/notesMaster" Target="/ppt/notesMasters/notesMaster1.xml" Id="R62eb3c509d464cf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7883ef212ce42b2" /><Relationship Type="http://schemas.openxmlformats.org/officeDocument/2006/relationships/notesMaster" Target="/ppt/notesMasters/notesMaster1.xml" Id="Rd2686f9d87c0455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7c2ed4c9f7c481b" /><Relationship Type="http://schemas.openxmlformats.org/officeDocument/2006/relationships/notesMaster" Target="/ppt/notesMasters/notesMaster1.xml" Id="Rc05adb85dafe43b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63898f66e0a4777" /><Relationship Type="http://schemas.openxmlformats.org/officeDocument/2006/relationships/notesMaster" Target="/ppt/notesMasters/notesMaster1.xml" Id="Rfacae28a9299470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9583315a4b54137" /><Relationship Type="http://schemas.openxmlformats.org/officeDocument/2006/relationships/notesMaster" Target="/ppt/notesMasters/notesMaster1.xml" Id="R74e4c4687792443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024944a79f04e3c" /><Relationship Type="http://schemas.openxmlformats.org/officeDocument/2006/relationships/notesMaster" Target="/ppt/notesMasters/notesMaster1.xml" Id="Rb879892a2c22437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facf59267ea4f1b" /><Relationship Type="http://schemas.openxmlformats.org/officeDocument/2006/relationships/notesMaster" Target="/ppt/notesMasters/notesMaster1.xml" Id="R9878fcfdb90f4c3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23c1a77aef64860" /><Relationship Type="http://schemas.openxmlformats.org/officeDocument/2006/relationships/notesMaster" Target="/ppt/notesMasters/notesMaster1.xml" Id="Ra6233306db8c481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e05d3037a1149d6" /><Relationship Type="http://schemas.openxmlformats.org/officeDocument/2006/relationships/notesMaster" Target="/ppt/notesMasters/notesMaster1.xml" Id="Rd62273a0f1f64f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案例依据：STMicroelectronics, “How Ruiyan Intelligent Control enables dexterous humanoid robotic hands”, https://www.st.com/content/st_com/en/about/customer-success-stories/how-ruiyan-intelligent-control-enables-dexterous-humanoid-robotic-hands.html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案例依据：STMicroelectronics, “How SpaceX brought internet access to remote areas”, https://www.st.com/content/st_com/en/about/customer-success-stories/how-spacex-brought-internet-access-to-remote-areas.html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69ac8cac84d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cba58215184576" /><Relationship Type="http://schemas.openxmlformats.org/officeDocument/2006/relationships/slideLayout" Target="/ppt/slideLayouts/slideLayout1.xml" Id="Rd482916719684e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82916719684e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429ac1b5247c8" /><Relationship Type="http://schemas.openxmlformats.org/officeDocument/2006/relationships/notesSlide" Target="/ppt/notesSlides/notesSlide1.xml" Id="R3ee380c2c2d847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018aae48343b8" /><Relationship Type="http://schemas.openxmlformats.org/officeDocument/2006/relationships/notesSlide" Target="/ppt/notesSlides/notesSlide2.xml" Id="R4ab3963286d747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f006f16284327" /><Relationship Type="http://schemas.openxmlformats.org/officeDocument/2006/relationships/notesSlide" Target="/ppt/notesSlides/notesSlide3.xml" Id="R370742062a6b44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fd81f132743bc" /><Relationship Type="http://schemas.openxmlformats.org/officeDocument/2006/relationships/notesSlide" Target="/ppt/notesSlides/notesSlide4.xml" Id="Rab20889cd49044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881f0f39f49bf" /><Relationship Type="http://schemas.openxmlformats.org/officeDocument/2006/relationships/notesSlide" Target="/ppt/notesSlides/notesSlide5.xml" Id="R9ce7f9c8ebef48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6fd88c0324c57" /><Relationship Type="http://schemas.openxmlformats.org/officeDocument/2006/relationships/notesSlide" Target="/ppt/notesSlides/notesSlide6.xml" Id="Ra5050ba4f7d945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ae79ab8784b86" /><Relationship Type="http://schemas.openxmlformats.org/officeDocument/2006/relationships/notesSlide" Target="/ppt/notesSlides/notesSlide7.xml" Id="R8d864dba80f842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8326c6f624c4d" /><Relationship Type="http://schemas.openxmlformats.org/officeDocument/2006/relationships/notesSlide" Target="/ppt/notesSlides/notesSlide8.xml" Id="R5b3a7dd758784f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881d0510f4b9e" /><Relationship Type="http://schemas.openxmlformats.org/officeDocument/2006/relationships/notesSlide" Target="/ppt/notesSlides/notesSlide9.xml" Id="Rbc1908099e1442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5256bf6ed452c" /><Relationship Type="http://schemas.openxmlformats.org/officeDocument/2006/relationships/notesSlide" Target="/ppt/notesSlides/notesSlide10.xml" Id="R2837e728abbf42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c9691250a415f" /><Relationship Type="http://schemas.openxmlformats.org/officeDocument/2006/relationships/notesSlide" Target="/ppt/notesSlides/notesSlide11.xml" Id="Rd3a62b916fbf49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914ce12d44da1" /><Relationship Type="http://schemas.openxmlformats.org/officeDocument/2006/relationships/notesSlide" Target="/ppt/notesSlides/notesSlide12.xml" Id="Ra8e5a01b192c4e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9ea3459fe4751" /><Relationship Type="http://schemas.openxmlformats.org/officeDocument/2006/relationships/notesSlide" Target="/ppt/notesSlides/notesSlide13.xml" Id="R4ae854fdd8b24b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67eb83ced41c0" /><Relationship Type="http://schemas.openxmlformats.org/officeDocument/2006/relationships/notesSlide" Target="/ppt/notesSlides/notesSlide14.xml" Id="R3bc8b69fee594b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fdc44b15345f6" /><Relationship Type="http://schemas.openxmlformats.org/officeDocument/2006/relationships/notesSlide" Target="/ppt/notesSlides/notesSlide15.xml" Id="R1dccfd99f4bf4e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bd9393b514499" /><Relationship Type="http://schemas.openxmlformats.org/officeDocument/2006/relationships/notesSlide" Target="/ppt/notesSlides/notesSlide16.xml" Id="Rb3e273962c3d4c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810e04ed44237" /><Relationship Type="http://schemas.openxmlformats.org/officeDocument/2006/relationships/notesSlide" Target="/ppt/notesSlides/notesSlide17.xml" Id="R592a251dfc4142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53ef1f0bc4706" /><Relationship Type="http://schemas.openxmlformats.org/officeDocument/2006/relationships/notesSlide" Target="/ppt/notesSlides/notesSlide18.xml" Id="Rbfe5f873d40b4f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19f3c54db4a3d" /><Relationship Type="http://schemas.openxmlformats.org/officeDocument/2006/relationships/notesSlide" Target="/ppt/notesSlides/notesSlide19.xml" Id="Rcd997a2d60ca487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693ff25724c58" /><Relationship Type="http://schemas.openxmlformats.org/officeDocument/2006/relationships/notesSlide" Target="/ppt/notesSlides/notesSlide20.xml" Id="R8945a522138c4ec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e632709874442" /><Relationship Type="http://schemas.openxmlformats.org/officeDocument/2006/relationships/notesSlide" Target="/ppt/notesSlides/notesSlide21.xml" Id="R50eb843e3535470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3f98ac1c94adb" /><Relationship Type="http://schemas.openxmlformats.org/officeDocument/2006/relationships/notesSlide" Target="/ppt/notesSlides/notesSlide22.xml" Id="R421a13045f6644a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5de094d7f44b1" /><Relationship Type="http://schemas.openxmlformats.org/officeDocument/2006/relationships/notesSlide" Target="/ppt/notesSlides/notesSlide23.xml" Id="R05542dc7c3b042d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6dd80527a4f10" /><Relationship Type="http://schemas.openxmlformats.org/officeDocument/2006/relationships/notesSlide" Target="/ppt/notesSlides/notesSlide24.xml" Id="Raf35b9f03c394fb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8ce67b1dd4be6" /><Relationship Type="http://schemas.openxmlformats.org/officeDocument/2006/relationships/notesSlide" Target="/ppt/notesSlides/notesSlide25.xml" Id="R313eb5b28804432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e31eeb58e4a59" /><Relationship Type="http://schemas.openxmlformats.org/officeDocument/2006/relationships/notesSlide" Target="/ppt/notesSlides/notesSlide26.xml" Id="Rb81cddd0e6b24f4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50dc9c42d447e" /><Relationship Type="http://schemas.openxmlformats.org/officeDocument/2006/relationships/notesSlide" Target="/ppt/notesSlides/notesSlide27.xml" Id="Rb67d148af5f14bb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59456755d4c7c" /><Relationship Type="http://schemas.openxmlformats.org/officeDocument/2006/relationships/notesSlide" Target="/ppt/notesSlides/notesSlide28.xml" Id="Rdf8c26b49f734ff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0916d7a154b6f" /><Relationship Type="http://schemas.openxmlformats.org/officeDocument/2006/relationships/notesSlide" Target="/ppt/notesSlides/notesSlide29.xml" Id="R015d33cb368b471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16d134694462a" /><Relationship Type="http://schemas.openxmlformats.org/officeDocument/2006/relationships/notesSlide" Target="/ppt/notesSlides/notesSlide30.xml" Id="R17cc09f523514d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BE4AE-CD10-4AC2-87BA-E186F4DD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EA346-84DA-4A86-A647-44A947F3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620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STM32 常见外设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与嵌入式系统开发流程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7EEC6-8C56-406E-B3B6-0023C497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综合设计实例（2学时）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D5445-1299-4C6C-9E92-6B96E4C5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从“芯片里有什么”到“系统如何工作”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33984-42E0-46DE-A502-CB01E700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542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A4C65-2471-4E5E-A9A1-664086BD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62525"/>
            <a:ext cx="527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概念复习 · 典型应用 · 开发流程 · 基础调试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3129F-0601-414B-9825-A2AA27EA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5C8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5C8D9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1C034-CE4B-466C-B2F2-DC5C5526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90236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4BB0F-445E-4B58-889E-951E15A0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本节课要解决的问题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0D2B1-F15D-4F57-9114-B0E10E45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围绕 STM32，建立从概念到应用的整体认识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F4F3A-C1FD-46CF-A164-90DF86B9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B68B3-51C0-4292-AEB0-1F2C50A7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FA1C6-9ED8-4136-A08D-C4FDBB26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62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STM32 是什么？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BDE41-67D9-47BA-8490-74211C45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A24EF-0D93-4244-8B44-DDB0B463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193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外设是什么？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283EE-3291-430D-807D-C0D8B2C4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82ED0-8273-49B3-B57C-798039A9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766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PWM、ADC、UART、SPI、I²C、CAN分别做什么？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FC154-B28A-4D09-83B7-342966C6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585D9-F13D-4A78-B903-51F30491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338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一个嵌入式系统如何从设计走到调试？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0737A-0567-4349-B8A2-D947D0C2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23B74-D5AE-4587-A74C-C350DC4F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057099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1985A-75C9-40E9-800F-9658FA80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STM32 是什么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FA1E5-0608-47F8-AED3-A6B8E5EC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STM32 是一类基于 Arm Cortex-M 内核的 32 位微控制器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44AE1-1116-4604-AFCC-D9E711C0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FB624-C9A1-4A15-805B-C76D94EE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159B1-44F3-4854-A614-759BDDC2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STM32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237F9-4EB3-441B-90E4-2293D1BD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控制核心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9657B-0703-42F7-830F-A860FBCA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把程序、数据和各种功能模块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集成在一块芯片中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E27B5-1B5D-48BC-B5FE-209D0BC5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3D720-AEAC-4519-988A-52BE9AFB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5737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执行程序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6E4DB-D3AF-4848-9720-393FE414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43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E8503-3EC6-4809-93C5-2AB53D2B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4792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读取输入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FB733-8CF0-496D-BA19-3AB15F66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33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956AD-8DEE-4709-AA17-EF8E6A2E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3847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控制输出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C50987-6019-4EDA-A7A2-7C550A19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24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52FC1-6874-4B1F-B2CD-31C5D0E9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2902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与其他设备通信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45946-55D4-49A8-A2A1-22862A04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E217F-A3A1-4821-AAA0-36F006ED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365792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480D5-73EB-4356-92FF-7A8B054A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STM32 的基本组成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D202C-97A0-444A-83B2-5CC9A32A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理解“内核 + 存储器 + 外设”的关系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9C33F-D7C6-4321-8E19-AF3BB587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E33D9-63D9-4E42-A96F-59874837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AC17C-2A94-42A6-B7D9-2F674B96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CPU内核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FBAF2-04E8-4710-9208-2AA40996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622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执行指令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进行运算和控制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C738A-18DC-46D8-A885-D0184256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D6B0B-F47E-4045-B3B6-6B98E833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621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1B741-ADF0-4808-A7EB-B3AA1700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622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保存程序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掉电不丢失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0B52B-7C57-44B6-9B04-7D88E403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018DD-A775-48D9-8D02-02099D54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8B14F-3ED6-4EAF-9CD4-7962115A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保存运行中的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临时数据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F6235-3178-4C1A-B398-2E2F7860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68138-ECAC-4555-A27A-BB70913D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621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时钟/复位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5784A-65DE-4601-A1E9-22C504C0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决定各模块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何时工作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70C0A-27CF-43E0-9259-D61D5340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009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EA381-0E51-4917-977D-2953CCA8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7667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GPIO  ·  定时器  ·  ADC  ·  UART  ·  SPI  ·  I²C  ·  CAN  ·  DMA  ·  RTC  ·  看门狗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92312-DAB5-493A-8441-E08DF6B1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57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这些功能模块就是常说的“片上外设”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1D891-9CA4-4795-93DC-E0B34054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5908B-F142-4732-B1C2-B94154B8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3601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912FA-E8CF-4EAC-922C-CCA8B76D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什么是外设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C3A77-958F-4FE1-BF42-6C7F577D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外设是芯片内部用于输入、输出、计时、转换和通信的功能模块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E780E-85EC-4EAE-A730-7E0D6617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C7AE8-0A19-425F-9B53-EDA075CB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57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D9C78-758F-4E47-AE19-976C8E8F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外设 ≠ 外部设备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48694-EC33-4295-BD5E-505C9A5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383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外设通常已经集成在 STM32 芯片内部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B1976-74B0-4895-B0C7-6DDEF413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7ECF6-4DCF-471F-B64A-59773910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F7D28-3F04-49EC-BCFC-12A19FDB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按键 / 传感器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69F3F-7F1A-4928-ACA3-9B2E7E3A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DD0BC-A2DC-44A9-B2BF-1DDAF676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46E2D-96A4-484D-9CB9-5D156AC6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定时 / 计算 / 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ED8CC-CC70-4D3A-BAFD-565AC195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DEA54-117A-4268-8780-E06A6BF3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D7F51-F34C-4345-987F-FA6226C6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LED / 电机 / 蜂鸣器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73286-F9E9-4168-B7F1-A66FF128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9E8A5-2D6F-41CD-93F0-6AD5CF75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通信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0E6F5-E87C-48D9-AC93-004E6954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电脑 / 其他控制器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9EE9D-B9A2-4572-BF13-EB52B298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D4D9C-2EA9-4E6A-BA43-4CE4788D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4517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63E39-FDC4-477D-A33C-E74DBBE2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STM32 外设如何协同工作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70972-EB35-4F04-928D-C35A1A32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一个产品通常不是只使用一个外设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313CF-749E-4104-A015-6A9319FE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60AAB-1ED2-46B2-B350-56FBD9BD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286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6471C-E302-4017-A84F-AF193E89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传感器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245F0-210A-4F9C-8554-73F600A2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F6053-B736-4133-A6D0-17E7D421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81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STM32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75F8C-AA48-4CE3-A569-B69F7375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71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9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F2FF"/>
                </a:solidFill>
                <a:latin typeface="Aptos"/>
                <a:ea typeface="Aptos"/>
                <a:cs typeface="Aptos"/>
              </a:rPr>
              <a:t>ADC / 定时器 / PWM / 通信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219C5-E3CE-4D0E-9E2F-71BFA52F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B10EF-5B61-40A7-8C0B-41729CE9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执行器或上位机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2C309-DBDA-4C44-A307-FD2E050A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383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采集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D3B4F-331B-4AB5-A0F7-4C0E7931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控制 / 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748F5-2D39-4033-8F73-DD14C345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例：温度传感器 → ADC → 程序判断 → PWM 控制风扇 → UART 输出状态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7474B-019D-490E-9EA6-BC38A383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1703A-190C-4BDE-A21B-A7262FF9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530462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A1AA2C-A1D9-4757-A248-52CF8B2B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典型应用一：机器人关节控制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04572-48E5-41F7-ABE9-F09CC4F9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STM32 负责实时采集、计算与执行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F4960-A44D-4983-8425-B7969096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70B1F-CDC7-40E8-AA35-321A10B9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857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C16B6-F381-450E-85A7-CED73649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传感器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3A4A5-5FEF-44DE-A150-13A552F6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57ADC-C4FE-497C-9ECE-A08CF916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860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位置反馈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BC2BA-CBBE-4DC8-9D04-ADD8A0CC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2D1F4-CE16-43EF-9A11-996396CA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813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电流 / 力反馈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36975-9EC4-49E8-A592-30F717FA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71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4649E-5BDD-4956-9C28-E979D3B5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6766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温度监测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0770F-A20A-44DC-9A11-242B512D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2857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B120A-41CC-426F-A040-EB434903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STM32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170A2-FE5F-410D-A43C-2BEED638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00407-1878-4013-B36A-9D533049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860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ADC 读取反馈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FB960-C0C0-466B-A3FE-D9F4FBE7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C63CC-25E2-4A42-B8E8-3C4A59E9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813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定时器产生 PWM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96A8F-954F-433B-BCF8-3940EACE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71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DBF0D-AAE8-4D83-BC1B-8F3967BD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766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程序执行控制算法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ABEC7-3D71-4054-A90A-0B4324E3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2857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9C12D-F553-4B55-802E-F10067B9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电机与机械结构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B3599-7F82-4390-AB87-E1B92B3A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5C8A17-4A70-431C-BF15-32A4148C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860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改变转速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F3BA0-4F2F-4899-8840-779852CE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991AE3-D58B-417C-B9EF-D3053ABA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813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改变位置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315BAB-92AD-4DAA-AAD1-15F811D0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71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090661-8091-4E3B-AACA-78D18D85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6766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完成动作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2F9BAD-71B5-4498-8F44-3B1C180F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核心认识：STM32 往往负责局部实时控制，并不等于整个机器人系统。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0B4739-D9BF-4726-A5AC-8585B86A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ED6D84-6E8D-4AB6-9B46-6597F997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11080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763AD-4CFA-458A-ACE7-32B6EB9F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典型应用二：SpaceX / Starlink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C256B-C2E5-4DB3-953B-DC2BBEB9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STM32 也可以进入高可靠通信系统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12069-84AE-44C6-87B9-57D11964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16B7D-4812-411C-8986-AEB9F16B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3D268-E2DF-437C-ABEF-42E4668E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Starlink 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5C121-C0C9-4147-B622-B6BE2D5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低轨卫星 + 用户终端 + 高速通信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11646-9760-48A4-9664-52714DF6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公开案例中，ST 提到 STM32V8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用于卫星间激光通信系统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9D894-8F84-4BE3-8058-098E5859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8C136-81FA-4F5F-8BD3-5A9854E8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从案例看工程约束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C6A5A-BD41-448F-8FF1-B0EA9572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1C845-F9EE-4D93-BCB4-78858565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6225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通信可靠性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5CE09-CF6E-4C73-8378-78CE2F58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AB853-F5F2-4F85-A65E-CDB07858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8135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功耗与体积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9798E-264D-4869-A4D1-48CE3C2A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8BF63-86A6-4EB8-BFEE-BDB6AC44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0045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大规模制造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D889F-022E-4223-8869-1977795A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F48F5-53F9-4C5C-9806-14BF6274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955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复杂环境下稳定运行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1A6A0-9CCB-4A32-99A0-626F1953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案例启示：外设和接口的选择，最终要服从系统需求。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88D4F-ABD4-4C41-8022-D108C8A0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AE4C2-8ACA-413B-BEEF-8EF962B8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483963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0E44E-B6FC-4924-BD00-DDFFA2A9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典型应用三：智能设备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2CAF6-0C3D-457E-B84E-6258FC29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从一个简单产品看外设组合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8842C-CFCE-43F4-AF60-333661D0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7D527-7171-41FA-95AD-8C8F53F1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57E85-F675-4001-A186-7C9E0349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智能台灯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A363B-3E6A-4876-96FC-8630B28F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723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solidFill>
              <a:srgbClr val="F3F7F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B9357-F929-4E11-903F-BC1FC763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621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GPIO：按键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ADC：光照检测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PWM：亮度调节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A7205-658F-4778-9735-9AD1A0EB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59C59-503B-4EE9-9619-90EC2E7D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电机调速器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A96EB-8EB5-4616-9B83-545EC23C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723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solidFill>
              <a:srgbClr val="F3F7F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83604-87AD-48BF-BB21-7670F42E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4802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PWM：驱动控制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定时器：转速测量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UART：参数设置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1DAD7-9EA0-4F06-9D68-72ABB673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B650E-0E98-459C-B43F-D95C766F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温度监测器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56D47-A1B0-4C4F-ACAF-3114FCB5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723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solidFill>
              <a:srgbClr val="F3F7F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8BEB1-CA3E-443D-BBB6-83B350B0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339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ADC / I²C：采集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定时器：周期采样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UART：数据显示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FF907-C27F-4D7B-806F-C0F92499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6FAFFE-1CB9-49AD-9741-A7733DC1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284221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21AA44-5697-40F0-9AAD-0AC0A829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GPIO：最基础的输入与输出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6CAAE-C1BE-4536-A12E-D4B869FA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把外部世界转换成 0 和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9E80C-FA6E-42BC-93BD-08B02980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39937-02C7-4243-B627-869240BA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286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006C5-B37F-4D58-B919-9146F19A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 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3A1E7-FEB3-4F71-B943-BE298E43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FE769-8347-45C0-8D0C-6A626863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622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按键是否按下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2A26B-FCA1-4CCA-A98F-F397749D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8FD00-2600-4AC7-86E2-00ACAD14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2575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开关是否闭合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E675F-9FB4-458B-938E-0D680ACE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48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3BA48-73DF-4483-A7D8-BBE57E2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752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报警信号是否到来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B2B0A-2938-4BA7-902F-2AC2ABD5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286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7A082-1433-4A05-B538-69966648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 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156A0-4A3C-47D0-80BC-A9A17875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DE933-93F1-43F1-ABE1-FDF9C734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622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点亮或熄灭 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E0CC2-A784-474D-9132-2331A037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25E30-CFAF-4628-831C-144ED702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575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控制继电器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30427-AE00-4449-B8A0-EBBE719B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48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5125E-97FD-4EED-9FEA-B544E041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752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驱动蜂鸣器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06921-6FFA-4BE6-A8FB-737D4555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95875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典型特点：简单、直接、适合数字量控制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A90B53-C6CF-4304-B8CE-51F9BE0D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B18852-DC53-418E-AA9B-6822229E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18857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8567F-2EBD-4511-9409-1078AE5C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中断：让系统及时响应事件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C7784-59A1-4D29-A8BA-811FF2F9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当重要事件发生时，暂时打断当前任务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FEC4E-5455-4C05-BD63-368B548F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3640C-6242-4F57-B7C8-F95552B9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solidFill>
              <a:srgbClr val="F3F7F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4EF67-9D6C-4B20-9DA1-37830095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普通查询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E142D-D58E-4233-AF6D-F7274934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CPU不断询问：</a:t>
            </a:r>
          </a:p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“按键按了吗？”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43D97-48F6-4316-B50B-D5661AC1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5F649-390F-46F6-A9C3-7683B9D9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中断响应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D2D22-5E33-40D4-A557-EE635A0B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事件发生 →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执行中断服务程序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F2472-276D-4212-9569-552D23F4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06D6C-6EA0-4375-A456-F8791155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典型应用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E4E8E-83CD-4F7C-BF41-638D8625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按键、报警、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通信接收、定时事件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9C517-852E-4D24-9CA8-07944F32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CA4E4-30C1-4709-9547-8E557105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227300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7B3DA-7E7D-4727-996A-CF14DF08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定时器：让系统按时间工作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78204-78D5-49B5-AF16-87808AA7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定时、计数、测量和产生波形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01B97-0F87-4474-993E-DF1F6F50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BE99E-1B0B-4B7D-A718-B523B8A1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FD8F3-5269-4D1D-9B55-DDFBA775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定时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22053-19BD-4AC6-B3CE-C26B660C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812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每隔 10 ms 执行一次采样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3A33D-734E-4C50-90C5-FC03A40A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977CC-EC31-43E1-80BA-A417EB3F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812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计数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8C0FA-344A-4D70-9A6F-305712CE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812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统计编码器脉冲数量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54F22-1196-4D05-8A3C-0241DE57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37168-5A3B-4777-8AF0-920F97F9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575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输入捕获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85F3D-0E51-4261-A57D-EA081D87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5757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测量脉冲周期或频率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037AF-3A34-4B03-BF92-22736FC3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B72AF-6662-4930-86BD-927FFBD2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575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输出比较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513B6-0CCF-4437-BADB-55AE84EF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5757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在指定时刻改变输出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A8B19-525F-4F68-A33C-E26711C5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B86A7-FF6B-4468-B24F-1CF2593E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029328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99813-5010-4818-8CFE-8D942901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PWM：用占空比控制输出效果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5FAF2-50EC-49F7-9EF5-FA1205FA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PWM 是一种周期性数字脉冲信号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0D945-3C2C-4ADC-8F0A-30F24C9A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778CF-BDF1-4606-A95E-A2DF6178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ACBAA-1CBF-4575-950B-AEFF8CD0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频率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9C258-9BE5-484F-8968-5AA027A0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每秒重复多少次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7284E-0694-4991-A5C7-0E9F8C19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占空比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FF56E-450F-4023-8C2B-0224E7F8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一个周期内高电平所占比例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B0194-CEEC-4370-A288-53CDDEDC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191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solidFill>
              <a:srgbClr val="F3F7F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AE6D0-8FFF-4399-8942-D82E648A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PWM 波形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0BEC3-A153-4F69-B49B-59011EEC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E6B9E"/>
                </a:solidFill>
                <a:latin typeface="Aptos"/>
                <a:ea typeface="Aptos"/>
                <a:cs typeface="Aptos"/>
              </a:rPr>
              <a:t>高电平  ┌───┐    ┌───┐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42591-1BDF-49F4-8714-B4DB4A36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E6B9E"/>
                </a:solidFill>
                <a:latin typeface="Aptos"/>
                <a:ea typeface="Aptos"/>
                <a:cs typeface="Aptos"/>
              </a:rPr>
              <a:t>低电平  ┘   └────┘   └──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3ABD7-09E0-4343-B0CD-4E326DF2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改变高电平比例，就能改变输出效果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33648-7364-4DDB-8D2E-4378B46D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2062A-59D0-4A90-A4B7-3B5D7BB0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031262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26174-74BF-437D-A7F4-8260AEEF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PWM 的经典应用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4C830-CC45-4644-A30A-5FDB78A4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灯光调节、电机调速和舵机控制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610F3-2616-4516-94D1-EE813360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8D361-71D9-48F9-A178-1A923AFC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FE89B-327D-4CD5-9306-FCF93281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812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LED 调光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04AF8-1383-463E-8713-6F45F9C5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812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占空比越大，平均亮度通常越高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F7ABD-6DD3-4D0B-96E1-F23D6F6E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2DBE0-B83F-4391-A2A7-3883D85C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电机调速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6B784-A52D-483F-8142-9EC9346B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改变驱动平均电压或功率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2A4AB-4710-4AC3-9E97-FF97EC39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51BED-BAA2-4993-A516-DA067DBC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舵机控制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E77CD-DDFB-4F0C-BE6D-68065B9D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用脉冲宽度表达目标位置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E6157-9258-4853-B82F-3EDEEDA6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93B7B-C5E2-4DC0-9F08-E868689D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99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蜂鸣器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BB609-651B-468D-9C7F-5038E84D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改变频率产生不同音调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2B9A1-749C-4AC2-BB7E-FC1EFB54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9587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注意：PWM 是控制信号，电机等大功率负载通常还需要驱动电路。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9A832-0C2D-4046-8E6F-13327004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30E1CD-B851-4683-B3A5-39F99332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138596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C5248-7DB8-4B30-A09A-5848AC59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ADC：把模拟世界转换成数字数据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E9CC6-5A27-45F2-9431-61672249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Analog-to-Digital Converter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C5759-A250-47D2-BB51-C94721A8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7B2EC-C880-426F-8079-617E0C41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B394B-EEBA-47AA-9A80-F96B0ECE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8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温度 / 光照 / 电压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D7F15-D459-44D9-B78B-DF560E2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2762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C0F9D-6BCD-46EE-A768-187C9401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4D494-2FEA-4E4F-99F6-8098605E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98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采样 + 量化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0830B-2210-448E-AF98-05965E36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955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FF64F-630E-4C0F-B9C1-B6BE0045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28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数字数据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BE56F-C081-4FE9-B66B-5D2EB055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典型应用：温度采集、电池电压检测、电位器读取、光照检测、电流检测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5AC21-AACD-48C4-BE37-9341CA9C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C2070-90B8-4103-9AAC-10A0DCE0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892706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685A8F-CFC4-4353-B183-B94D4201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UART / USART：最常见的串行通信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0E1DE-4DBE-4A46-A501-35C5FD4C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适合设备之间或设备与电脑之间交换数据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F1E99-5501-4AFA-B8FC-9E6B4C42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04F7C-D03A-4008-BCDF-C73B8DAA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095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105AA-EAE5-4CEE-AEB5-C0370533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基本信号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8B6BC-17D4-4AC9-B55D-1DE7147D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3D078-CFB7-4F5F-883F-F4CB16E7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14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TX：发送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0CBA3-B203-47E9-9C99-2C6D9882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90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AF21F-FAF6-46E0-84D3-5311CE87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95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RX：接收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18B73-7EB6-4C9F-B5AD-800038C0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3E415-3F5F-4350-8D7C-64446DB0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76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GND：参考地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20088-F45E-4357-A8C8-F875C4FA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52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55C24-581E-41F4-AD21-370AF3F3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57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波特率：通信速度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6DDFE-4C9F-4E7D-B610-586DF189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095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3E75E-40D5-4241-B4CA-3D6FAC85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典型应用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127F3-857C-48E4-B2F5-B3577128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7329F-087F-4D9A-966A-BCF8BAB1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14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输出调试日志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EE12B-0F5F-4809-8C2A-BA0F44F1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90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E68E6-82CF-46D3-9AB7-FF444476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连接 GPS / 蓝牙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31005-C06B-4849-B8B6-796EE3E4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71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4CF40-FB85-4184-B0CF-5762BCC7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与电脑串口工具通信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B5E5B8-CEC1-4269-8DEF-FDDD0075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AC243-0995-4BC7-BBE9-EF4EC1B9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57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读取串口传感器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6926A9-7A5B-435A-BB4A-864D806D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AAAD5A-61A7-4126-9F1D-E2B950D3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11189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1F1B5-D096-4A28-BB7E-0E030E01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SPI 与 I²C：连接传感器和显示设备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A1AA4-14D8-4555-A9FB-DD8C4BB0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二者都是常见的同步串行总线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F132C-6F16-4010-AE44-524FCA28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B827C-4EDF-4EBC-9F75-DA217604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15685-9038-4AFB-8A3E-0F2A67AF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E6FF2-E132-4DB3-BE00-54B30122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速度较快，信号线较多</a:t>
            </a:r>
          </a:p>
          <a:p xmlns:a="http://schemas.openxmlformats.org/drawingml/2006/main">
            <a:pPr>
              <a:defRPr sz="1725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常见：SCK、MOSI、MISO、CS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2FD03-A3AF-4570-BFFE-E79FD38D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00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Flash、显示屏、高速传感器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57E7C-7888-43F4-9B02-12B19247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2217B-7A10-49C9-81A9-2EE2E70E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I²C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A268D-38E6-47B7-A5A9-DD8DDDE8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3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3FFFF"/>
                </a:solidFill>
                <a:latin typeface="Aptos"/>
                <a:ea typeface="Aptos"/>
                <a:cs typeface="Aptos"/>
              </a:rPr>
              <a:t>只需 SDA 和 SCL</a:t>
            </a:r>
          </a:p>
          <a:p xmlns:a="http://schemas.openxmlformats.org/drawingml/2006/main">
            <a:pPr>
              <a:defRPr sz="1725" b="0">
                <a:solidFill>
                  <a:srgbClr val="E3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3FFFF"/>
                </a:solidFill>
                <a:latin typeface="Aptos"/>
                <a:ea typeface="Aptos"/>
                <a:cs typeface="Aptos"/>
              </a:rPr>
              <a:t>多个设备共享总线，通过地址区分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4A109-2B09-49BA-8D68-275D1FA1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00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温湿度、RTC、OLED、IMU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CE191-BFAE-4BC9-84AD-03C81CAC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0887B-C60F-41E2-A908-3A8F7E14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661425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472A47-B2E1-4F20-A076-122FA96B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CAN：面向工业和汽车的通信总线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4F3DF-79AB-4474-9A6D-DB864EB2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多节点、抗干扰，适合设备之间可靠交换状态和控制数据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ABE3E-F0F4-492C-8E88-67C52BE2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FF3E1-5D73-40BC-AC75-44523CE8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8BEC5-25CA-4767-B49A-2F82850D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电机控制器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032C6-4A25-483B-A3F2-2899971A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247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5C936-3724-475B-BC93-A5445166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 总线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8EEE3-E0B4-41E9-BFEA-48985DEB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C8CF8-169F-43F5-9ECA-E3E02EAF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电池管理系统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E6E4D-E142-413F-933F-BF9361BA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典型应用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A7324-3A6D-4FEB-8D2F-357284D9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19922-4677-47A1-91F5-881C697B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6237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汽车 ECU 通信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41C86-4889-4F8D-B11D-BA9C50E6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57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CD582-4885-4FF2-A89E-AD0D4A97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6242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机器人关节通信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12399-F0C8-4462-B576-87F34D39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57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CADCE-034F-4071-B99A-FA15665E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6247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工业设备联网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F555D0-D9E1-489E-AB57-4416A44E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57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16390-F2F9-451A-A598-FF914CFC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6252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电池管理系统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C7092D-FCFA-4914-A94A-1A2FF87D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DD28C-C41A-480D-B385-B4A297C8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005908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BA47DA-FAD1-44B3-9B44-CD6752B3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其他常见外设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56823-394D-44B1-A994-D9797A12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外设选择取决于系统需要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82147-0125-4869-A5F4-59BA57C1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48449-7C67-4458-9729-3058FE3A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497AD-3777-4AB3-B7CE-CBEEE4C2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102CC-24CB-49AA-AEE2-B45DC9C0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907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自动搬运数据，减少 CPU 参与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24496-0BCB-4EC1-9ED5-B06D839B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ADC 连续采样、串口接收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4C800-EA1B-41F2-B5C7-7B4D4FF4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39175-1C4C-4440-8723-FBB6DCA0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RTC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0D08E-B267-4939-9A30-F1B32333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43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记录真实时间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3476D-0BC2-4E0E-9097-2BA40EC8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时钟、定时任务、数据记录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57D5D-A4EE-4E5E-BD69-4D8642B6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AD1A7-1722-4523-8B4B-CB2882F5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看门狗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61BB3-DEB3-47CC-8DD1-AB5D96A1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957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程序异常时自动复位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1B7DB-04FE-4A88-B54E-BA3D7B9A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提升系统可靠性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2FF02-FB13-4911-BE41-9BE6CBE9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8A6F8-19C7-46CC-B1C9-F5548B95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USB / Ethernet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73734-9226-45BC-A66C-53965B64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48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连接电脑或网络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2CB2C-7E38-41AE-B9F6-485673FA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82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数据传输、远程设备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D66B51-232D-460D-8365-B562E8AA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05FB5-BF59-4852-807C-CA936957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357937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ABB30-DDD1-4746-B1E5-7C84EFE9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外设选择：先看需求，再选接口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BFF8D-00F0-4017-ABC2-EC6DC149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没有“最好”的外设，只有“更合适”的方案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6EC65-4BA2-4358-8DC7-EFFD3580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C03BF-DE98-45D3-B058-8DB466AD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需要数字开关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3C77E-0685-47EB-8ACD-CD5069B2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478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5EEDA-A548-49F6-ACA2-79F3F66A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573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18CC0-0DEF-4E57-9A21-DC311C89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668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简单、直接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F6E23-6AA2-4E48-8991-117F3BE4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需要周期控制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C4ED8-FBCC-4D37-B88B-5DF79F61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907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B18BA-0266-4926-9276-37D477D0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003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Timer / PWM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CEFD5-4F92-4A42-886B-A6F5537D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98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定时、调光、调速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0F8B9-809D-478E-9E9E-D127DA12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需要读取模拟量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1931C-4AA4-490E-AA9C-4E69C625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337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76FEB-9D7D-4300-A32C-A06BDC54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432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6F628-3027-4F96-890B-F66043C8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电压、温度、光照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19723-654B-422C-885B-E9C751AD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需要短距离通信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F3489-6281-41CC-B2E0-14B1AA16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766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BFAA1-6629-48FD-8C14-8C7FE3CC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862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UART / SPI / I²C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437B6C-55F8-493B-8BD3-E4E014AD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957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根据速度、设备数选择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7ED526-FEBB-411D-A002-D310716A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386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需要工业现场联网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B5400-A4FA-4936-9C5F-82C1A926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96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7C15D3-5025-4C9A-8F59-F3E5B76E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291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 / Ethernet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52AAE-D0AC-4D21-8803-315CE376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386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根据距离、可靠性选择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237412-9F7D-480B-B0B4-B4FEE236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FE5350-F73E-4118-946C-83EADA23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968272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17427D-5EAA-4533-A2CD-BE79F0FA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嵌入式系统开发流程总览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43DC2-B138-4F83-A32D-D735EAA8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从需求开始，经过设计、实现和验证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5FF4A-BABB-4594-8A5F-656CB0DE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3A20C-2A9C-4D19-BB52-2A783E6B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C8D25-C729-4270-B889-D655380C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A3443-A271-427F-8FB7-F2DDDE02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需求分析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1011F-A9A6-419C-92C2-C03B2F96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14650"/>
            <a:ext cx="28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94E10-D061-4D9C-85C1-F140E828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9696E-A647-4A83-9B5C-24DCB14A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8B7ED-1883-462D-987C-8EFBB3EC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方案设计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8A10F-62A9-4E80-A75E-C6747530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14650"/>
            <a:ext cx="28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FCBEE-A7FF-4083-B940-D870FFDF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E05A1-45E2-4B26-B521-4814462F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E4466-9757-49CA-9FDD-DD27FE1A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硬件设计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95FD5-F8F3-41D8-A3AC-DCE63404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14650"/>
            <a:ext cx="28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B96674-4F83-4805-8CDD-70CECB08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D44CA-C782-4024-A202-3F3E59C5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BFBB1-0631-4F7C-B0C4-F99448AC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软件设计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35F80C-0930-46D3-BB26-9BF585EB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14650"/>
            <a:ext cx="28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BFAEC-F2E7-43E2-9260-DB505DFB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4BFB38-0F96-4A5E-B56F-A8DFA001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82C6BF-B542-465E-94B8-1A166D30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联调测试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EF6622-B327-4657-AB55-C36E3BE7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14650"/>
            <a:ext cx="28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35FC6A-0606-49B0-8C66-EB67BBC9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526579"/>
          </a:solidFill>
          <a:ln xmlns:a="http://schemas.openxmlformats.org/drawingml/2006/main" w="0">
            <a:solidFill>
              <a:srgbClr val="52657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9CAFC9-04AE-4A54-96BC-631D92CC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21B3C7-CADC-4EA9-8013-B25D77C5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交付维护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6C1D8-A774-4118-957C-56D681F7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外设复习解决“系统里有什么”，开发流程解决“如何把它做出来”。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788B23-F107-4E3D-831E-C17B37CF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077268-C825-4FFA-925E-278B2CBD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1136881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9AADF1-06C4-4D8B-B08A-CF669A17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开发流程一：需求分析与方案设计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7A8E6-07F5-4D6F-B972-596EE18A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先明确系统要完成什么，再决定怎么做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20C9D-E61A-4105-A5F6-35127223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6AA6A-C6DC-4083-904E-BA2E06F0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C0693-8515-4D99-94C7-78F999C4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需求分析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E1902-FF38-411F-8836-C8C989B1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8E881-FE08-47FF-B72B-43C8FB5D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7622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功能：系统要做什么？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9D6E1-3917-4B1E-B978-D28FAE0E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D8688-EF7C-47A0-9E29-B07EEB0B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90875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性能：做到什么程度？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3B283-0126-40DC-A4A3-BBCDD0A1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14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4FBB1-9193-420F-8C7C-2B0C1744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61950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环境：在哪里工作？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6A879-BA43-421C-B750-63040816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43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272CB-C7D5-4A0E-94A5-1642429A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048125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约束：成本、安全、功耗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D859C-1A44-4D7E-BDFC-E07F835F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D15B7-D015-4F08-AD59-AEA07B95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方案设计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5E970-03CE-439D-B419-BFC14D9A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515E0-67BB-4936-B4A6-2E25F8CC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7622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选什么 STM32？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E1CA3-2839-46F9-8632-F829C9F5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86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9926FB-23FB-44EE-A71F-15DD9643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190875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需要哪些外设？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51D7F4-6812-4B27-B012-557C189E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14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BE1B2-CB6C-4550-8F90-4D78A30C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61950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接口如何连接？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CC22D-2A33-417F-8347-6778D06C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43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2F8611-2708-4EED-811D-303072E0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048125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如何验证方案？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1A074D-1B71-4460-9210-A730E871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2A4869-65B1-47B3-93B0-9825E702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124254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47BAA7-BBBC-4F0F-A5BE-E9329917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开发流程二：硬件与软件设计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DBA9E-A917-48BC-AC41-7CE12C1F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硬件决定“能不能连接”，软件决定“如何工作”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84CD7-246B-4604-B3C4-276D71FF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715F0-E1E7-40A2-B27A-FDF4F4DB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429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A20F8-92B0-46EA-9DCF-68271520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硬件设计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E971E-A2A8-4250-9B9A-D4EDD014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22C85-6170-4D55-8413-25DD0B16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芯片与传感器选型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9DC4A-FE17-4D3D-8217-4E3F3DDD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3A368-D378-47DC-9069-282345AE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813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电源与时钟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0512E-41F7-45C4-9D03-E7C32871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57806-B528-4C53-ADA0-17FC1941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接口与电平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E5E34-5EE3-43CB-B955-AE15205F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14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E9F91-95BF-45B7-9435-C70735FD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19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原理图与 PCB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16981-E47A-42CC-B5DA-F544A36E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429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D8207-0B7D-46F2-A4BA-8ACC5C08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软件设计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E5646-D983-485F-845E-52367EF2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954F7-63F4-43A3-ABB5-BCA8182B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7622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驱动层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939CDD-D3A2-4E96-B60D-ACEC1FB5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59F763-F2BC-47E6-87DC-0AA7EC42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1813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功能模块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FB214-2A5C-4D41-8281-A29E1449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7AA1F-6482-439C-894E-2053656B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6004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业务逻辑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74878-98F1-446D-85CF-D7D7EA5F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14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17E988-6EB5-4DBB-87C6-05A76410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019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异常处理与通信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9A09D0-6DC3-464A-A4B8-BD2DF135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A68E0-7BBF-46BB-B3A9-9E53CEF7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2403572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BFE13-3DF9-4B0B-B876-F9E6DE3A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开发流程三：联调、测试与维护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8D89B-B429-42DB-A30F-52AEC479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程序能运行，不等于系统已经合格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A21FF-1984-470C-881F-6C01C1A9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B1D74-46E4-4CA6-80AD-CDC9682E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69832-5777-4963-A357-7B2F0F00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联调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77A00-36DB-4188-BB86-335350CD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硬件、驱动、应用一起工作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9E0DE-AD02-44AB-BA08-7AD97ED1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D0230-7B26-4A83-8F75-3DDBDF1B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383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F89EA-6F76-4DF9-9EA7-72E96A03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52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功能、性能、边界、异常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9981B-585C-4C69-9427-44AA7F8F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6DD1E-AA38-4B47-B105-06482C2B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00440-3914-48F2-A02B-E945265E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结果是否满足需求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22640-9AE7-4344-AC21-CB06200E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D542A-7BFC-4D1D-9228-201BF40C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383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维护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06F9C-D603-4D46-BD89-21533265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记录问题、修复、升级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BC7E2-546D-4A93-8EB8-D82A51A7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工程闭环：发现问题 → 定位原因 → 修改方案 → 重新验证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FAF44-9D18-4532-9F0E-8382FC4D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41E24-6D8D-4B3E-9228-09450BCE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9896880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8B217E-B488-441E-AFF4-1D9C3C6D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基础调试：不同工具解决不同问题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A2ABC-8FFD-4565-8F3D-DF87B3A1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调试的第一步，是先判断问题属于哪一层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F58EC-DE3F-48E1-BB21-948B3ADF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3EFC6-8588-4145-ACF9-258A4E4E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97C56-DAF8-430E-873D-1892909D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串口工具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8BAF0-E411-4FBD-97BB-3E5C6891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57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看日志、发命令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67FAF-E9A0-48F1-993A-4AFF6B37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程序是否运行到某一步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470B4-7728-47D7-85C2-CA612282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BA844-4398-4075-9BA8-4CE012FB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Debug / ST-LINK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0856C-CAD1-4319-A8DD-5A5EA8A0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479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断点、单步、看变量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E75C5-A65B-46CC-862A-6A54E629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479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程序执行和数据是否正确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CE850-057C-4179-9725-13D7608D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401CD-D4A3-4FE5-9096-4231FCB7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示波器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3A8F1-D83A-4C0F-BBAD-AF6D039C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看电压和时序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08D15-2727-475A-8B4D-A64199A5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38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信号是否真的产生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BBF1E-1C1E-482F-B24D-619C1705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7E8D1-0CFF-45FA-B584-6C1CB7EF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逻辑分析仪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97941D-4CDA-44F5-964D-70D3996D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290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看数字通信波形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55143-7F19-4A96-8B03-A25BD27A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290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UART / SPI / I²C 是否符合预期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2BAAF0-0DDF-4F37-8F98-9814BFDD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7C51B-05F1-443B-B547-BCCF59E0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网口工具 / 抓包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D6B693-D90D-4EE0-A187-F27FC4F2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看连接和数据包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B2F15-0940-404B-8378-D0389908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196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网络配置和协议是否正常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3C3089-023B-48D3-B278-E83D0038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D409A1-48F6-4826-ADCD-E1D1E64C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553867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66CFF-8BF6-413C-A4D7-B875CE0E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调试案例：串口为什么没有正确显示？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94B7F-C5B2-40DB-8559-91164491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用“现象—假设—验证”代替盲目改代码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806B7-F4D5-471A-A590-56EF2753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B92A0-2AC8-4BE3-B4A6-C7168E37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667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E1D46-7622-4FDA-B118-EF56C3AA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现象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35830-7157-4685-8126-2F00500C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程序运行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但电脑无数据或乱码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494C2-9123-42D4-AC6D-B4315469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2667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B324D-735B-45D0-AD2C-CA99BCC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B1344-8DA8-4630-B5A8-4C0F7D60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051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TX/RX、地线、波特率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串口号、复用配置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1F54E-046E-472A-AC14-F1EEAD8E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667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93172-6F54-4E4D-B3BF-6D140A99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3006D-7B25-41A7-AF3B-AB6082C1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串口工具看日志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Debug 看发送函数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必要时看波形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7D866-1B26-4AA2-B896-D88BAAE3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结论：先确认硬件连接，再确认配置，最后确认程序执行路径。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2DBC3-F671-4140-B5E8-818B4498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AD2B6-9129-4D93-AE13-472C112F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671618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6D8A3-D61D-445E-87C6-A956C13D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调试案例：网口“连上了”但数据不通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E3D12-8495-4D98-9012-C2DD67B3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连接状态和应用数据不是一回事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E5E88-732A-4171-A9F4-E882B921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D945A-25DE-433B-BAC3-B4251FCB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75E12-2E6B-479C-B287-6A3DEB78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145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物理层：网线、接口、PHY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C8A05-9376-4651-AA91-2FACF82E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E28A7-6487-4EB0-A568-5EDD4429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网络层：IP、子网掩码、网关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72F18-BBC3-4FE6-94D8-0C315911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DA7DB-F7B8-4B22-8C31-80E7EB0F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传输层：TCP / UDP、端口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A48DA-608C-4E33-81BC-F671B4B5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6EFA0-6B7B-4657-94E9-9B255E8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应用层：数据格式、协议、长度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51824-6DCE-4EF2-96FE-BF22D4B3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2190750" cy="2476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4388E-D19A-4CA3-9CF6-962DE75F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工具组合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132B2-623D-47AD-9AAB-6ECD7011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57500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串口日志</a:t>
            </a:r>
          </a:p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网口调试工具</a:t>
            </a:r>
          </a:p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抓包分析</a:t>
            </a:r>
          </a:p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Debug 断点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91385-09E7-4FCF-80A0-CF08F229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DC5ED-6150-499B-97A9-A05C811D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8666524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7FF106-FF70-4C02-A15E-A183940C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把外设组合成一个系统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C3EE2-72DB-46F3-89C0-9763968B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以智能温度监测为例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C7856-1383-4156-9E9F-F33F5FA5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8847F-78A7-47A0-9ECE-9E82EC10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3427C-AF14-4E25-8EFC-D4753257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传感器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2EF91-DC3E-4147-AE04-67CE4767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ADC / I²C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395F2-479D-4E40-AE63-5139D4EB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955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90136-7977-4528-AD58-4507622E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周期采样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B6BB0-A758-4917-897A-17A42FBB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定时器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5508D-8D74-4DC9-A711-61F4A406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3EC17-E236-48D6-9A1C-39BEBE7E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28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数据处理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C85F0-164B-4597-AEC1-222ECD89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CPU + 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330BF-9BA0-4A54-A394-1ABF5BF9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6A0C4-A30A-45F7-9B72-8A669BBF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28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显示通信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1755B-3714-44D9-B9E3-3CBC3CD2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SPI / UART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C66ED-CE50-462D-9092-9CEE234A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B2D3A0-0C8A-4722-A2AC-4CA723BA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28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异常报警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65CF6-0839-426F-97B5-4AE10C4D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 / 中断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3C62E-FFD8-43EE-B21E-80DD6129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一个外设解决一个局部问题，多个外设协同才构成完整产品。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D3E98C-8F3F-444B-86E0-46B92A7D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6EBF5-3C0F-4B7D-AAA4-0988F4EB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59787614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0DB13-32C0-4067-9B17-EBE419F9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本节课的三层认识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E1B58-C44C-4CB8-9A06-25E2D480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从芯片、外设到系统开发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6F6FA-7910-48C3-A125-08465476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9E9BE-95D5-4EE0-A7B5-980D46C8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90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C8018-3A7F-4733-BE14-21D6E97F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812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第一层：芯片组成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8012F-101D-4754-9D86-1F63BFF7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8120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CPU、Flash、RAM、时钟、外设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E3E17-98D3-49CD-B8AD-D7DE4605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6D389-018A-4B51-9859-6EDEE820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289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第二层：外设应用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E4E1B-ECC7-4126-88D3-793830EE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GPIO、PWM、ADC、通信接口各司其职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A270C-4C24-4623-861F-ED2C8C2B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990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90AFA-152B-463F-A0F2-76F4C96F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767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第三层：工程流程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F69AB-D0D7-4950-89C4-34157E16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7670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需求、设计、实现、调试、测试、维护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43722-A8C7-45A8-9AF1-973DB75C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63BE5-DCB8-484C-8BC4-E5B54063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61395523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4823F-F87C-47D9-A921-F1FD7513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课堂总结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ACF18-FABD-445C-9CF0-4D0054EC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C8D5D-FE18-4616-A61E-BCA5916F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528AF-892B-4A51-B89C-CC55D859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95500"/>
            <a:ext cx="929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STM32 是集成了 CPU、存储器和多种外设的微控制器。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A35F8-4D50-40E9-9852-FA1DE729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C0B5A-950F-44EF-AE56-CAD29934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86050"/>
            <a:ext cx="929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GPIO、PWM、ADC、UART、SPI、I²C、CAN分别解决不同问题。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37DD5-6C09-4133-AA2E-E202AD38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EA428-C08F-4287-82F0-6345C587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76600"/>
            <a:ext cx="929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外设要根据需求组合，才能形成完整的嵌入式系统。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2C67D-4ABA-489B-840A-C70CB2DF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A3E11-570E-4CB7-BF92-94E1A1FD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67150"/>
            <a:ext cx="929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开发流程从需求开始，最终通过调试和测试验证。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BF92F-0435-49E1-9E74-49F44F70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FE9FA"/>
                </a:solidFill>
                <a:latin typeface="Aptos"/>
                <a:ea typeface="Aptos"/>
                <a:cs typeface="Aptos"/>
              </a:rPr>
              <a:t>思考：如果要设计一个智能台灯，你会选择哪些外设？为什么？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B0CF9-1042-4826-9861-73166D19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5C8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5C8D9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75043-29CD-4593-A15F-A28C21ED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23584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2026-10-10T11:52:25.8810000Z</dcterms:created>
  <dcterms:modified xsi:type="dcterms:W3CDTF">2026-10-10T11:52:25.8820000Z</dcterms:modified>
</coreProperties>
</file>