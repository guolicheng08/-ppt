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8038850c14df9" /><Relationship Type="http://schemas.openxmlformats.org/officeDocument/2006/relationships/extended-properties" Target="/docProps/app.xml" Id="Rc8a2b380383c4d50" /><Relationship Type="http://schemas.openxmlformats.org/officeDocument/2006/relationships/officeDocument" Target="/ppt/presentation.xml" Id="R3124e7ca6fda49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e074b704614961"/>
  </p:sldMasterIdLst>
  <p:notesMasterIdLst>
    <p:notesMasterId xmlns:r="http://schemas.openxmlformats.org/officeDocument/2006/relationships" r:id="R4891e6c2f61c4eed"/>
  </p:notesMasterIdLst>
  <p:sldIdLst>
    <p:sldId xmlns:r="http://schemas.openxmlformats.org/officeDocument/2006/relationships" id="256" r:id="R592b94e8065e470e"/>
    <p:sldId xmlns:r="http://schemas.openxmlformats.org/officeDocument/2006/relationships" id="257" r:id="R7c0fac1ccfed4ac4"/>
    <p:sldId xmlns:r="http://schemas.openxmlformats.org/officeDocument/2006/relationships" id="258" r:id="R52ea2f0bf1724737"/>
    <p:sldId xmlns:r="http://schemas.openxmlformats.org/officeDocument/2006/relationships" id="259" r:id="R0701544808bb4631"/>
    <p:sldId xmlns:r="http://schemas.openxmlformats.org/officeDocument/2006/relationships" id="260" r:id="Rf97a05296ef9450d"/>
    <p:sldId xmlns:r="http://schemas.openxmlformats.org/officeDocument/2006/relationships" id="261" r:id="Rfec9612dd4874e52"/>
    <p:sldId xmlns:r="http://schemas.openxmlformats.org/officeDocument/2006/relationships" id="262" r:id="Rbb2c83d603da42f5"/>
    <p:sldId xmlns:r="http://schemas.openxmlformats.org/officeDocument/2006/relationships" id="263" r:id="R27c85ff489fa4ee4"/>
    <p:sldId xmlns:r="http://schemas.openxmlformats.org/officeDocument/2006/relationships" id="264" r:id="R732c3978bf734a24"/>
    <p:sldId xmlns:r="http://schemas.openxmlformats.org/officeDocument/2006/relationships" id="265" r:id="R5c8a0afca0f64282"/>
    <p:sldId xmlns:r="http://schemas.openxmlformats.org/officeDocument/2006/relationships" id="266" r:id="R38bf0bf4d7d64a0f"/>
    <p:sldId xmlns:r="http://schemas.openxmlformats.org/officeDocument/2006/relationships" id="267" r:id="R4e7e64dd34fd49f6"/>
    <p:sldId xmlns:r="http://schemas.openxmlformats.org/officeDocument/2006/relationships" id="268" r:id="R56b8b26e51c847e9"/>
    <p:sldId xmlns:r="http://schemas.openxmlformats.org/officeDocument/2006/relationships" id="269" r:id="R629139778e1347cf"/>
    <p:sldId xmlns:r="http://schemas.openxmlformats.org/officeDocument/2006/relationships" id="270" r:id="R1ed679c7675a4492"/>
    <p:sldId xmlns:r="http://schemas.openxmlformats.org/officeDocument/2006/relationships" id="271" r:id="Rbb0b157539a04cb0"/>
    <p:sldId xmlns:r="http://schemas.openxmlformats.org/officeDocument/2006/relationships" id="272" r:id="R36d6efdb48d84553"/>
    <p:sldId xmlns:r="http://schemas.openxmlformats.org/officeDocument/2006/relationships" id="273" r:id="R3c04f47b577d452e"/>
    <p:sldId xmlns:r="http://schemas.openxmlformats.org/officeDocument/2006/relationships" id="274" r:id="Rd408ad5c28074ab0"/>
    <p:sldId xmlns:r="http://schemas.openxmlformats.org/officeDocument/2006/relationships" id="275" r:id="R76523c435b794ee4"/>
    <p:sldId xmlns:r="http://schemas.openxmlformats.org/officeDocument/2006/relationships" id="276" r:id="R596588ff52c144bc"/>
    <p:sldId xmlns:r="http://schemas.openxmlformats.org/officeDocument/2006/relationships" id="277" r:id="Rd6c7f0eb157c4599"/>
    <p:sldId xmlns:r="http://schemas.openxmlformats.org/officeDocument/2006/relationships" id="278" r:id="Rd45733ce50854629"/>
    <p:sldId xmlns:r="http://schemas.openxmlformats.org/officeDocument/2006/relationships" id="279" r:id="R845190a7c88d4715"/>
    <p:sldId xmlns:r="http://schemas.openxmlformats.org/officeDocument/2006/relationships" id="280" r:id="Rf8ba5ccf315e448e"/>
    <p:sldId xmlns:r="http://schemas.openxmlformats.org/officeDocument/2006/relationships" id="281" r:id="Rbd5f581985884131"/>
    <p:sldId xmlns:r="http://schemas.openxmlformats.org/officeDocument/2006/relationships" id="282" r:id="R0846e7be90d74151"/>
    <p:sldId xmlns:r="http://schemas.openxmlformats.org/officeDocument/2006/relationships" id="283" r:id="R1bac139196364c53"/>
    <p:sldId xmlns:r="http://schemas.openxmlformats.org/officeDocument/2006/relationships" id="284" r:id="Rea8795f997bb49cc"/>
    <p:sldId xmlns:r="http://schemas.openxmlformats.org/officeDocument/2006/relationships" id="285" r:id="Rb7c1290739a14ba2"/>
    <p:sldId xmlns:r="http://schemas.openxmlformats.org/officeDocument/2006/relationships" id="286" r:id="R7cbd5079aae04f86"/>
    <p:sldId xmlns:r="http://schemas.openxmlformats.org/officeDocument/2006/relationships" id="287" r:id="R79edf2af8279419f"/>
    <p:sldId xmlns:r="http://schemas.openxmlformats.org/officeDocument/2006/relationships" id="288" r:id="R4e5085cf253044b3"/>
    <p:sldId xmlns:r="http://schemas.openxmlformats.org/officeDocument/2006/relationships" id="289" r:id="R5dd0250cbcff4320"/>
    <p:sldId xmlns:r="http://schemas.openxmlformats.org/officeDocument/2006/relationships" id="290" r:id="Recba4ae4254347b8"/>
    <p:sldId xmlns:r="http://schemas.openxmlformats.org/officeDocument/2006/relationships" id="291" r:id="R10ec10123c9f4c23"/>
    <p:sldId xmlns:r="http://schemas.openxmlformats.org/officeDocument/2006/relationships" id="292" r:id="R21769c131e574fe4"/>
    <p:sldId xmlns:r="http://schemas.openxmlformats.org/officeDocument/2006/relationships" id="293" r:id="Rbb52df09a7cb4742"/>
    <p:sldId xmlns:r="http://schemas.openxmlformats.org/officeDocument/2006/relationships" id="294" r:id="Re2304cc8a65548ad"/>
    <p:sldId xmlns:r="http://schemas.openxmlformats.org/officeDocument/2006/relationships" id="295" r:id="R2c89fe6952c64689"/>
    <p:sldId xmlns:r="http://schemas.openxmlformats.org/officeDocument/2006/relationships" id="296" r:id="R2c0ed060e3254e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89e30ded74ccd" /><Relationship Type="http://schemas.openxmlformats.org/officeDocument/2006/relationships/slideMaster" Target="/ppt/slideMasters/slideMaster1.xml" Id="Rf1e074b704614961" /><Relationship Type="http://schemas.openxmlformats.org/officeDocument/2006/relationships/notesMaster" Target="/ppt/notesMasters/notesMaster1.xml" Id="R4891e6c2f61c4eed" /><Relationship Type="http://schemas.openxmlformats.org/officeDocument/2006/relationships/presProps" Target="/ppt/presProps.xml" Id="Rbcc60533988e47dc" /><Relationship Type="http://schemas.openxmlformats.org/officeDocument/2006/relationships/tableStyles" Target="/ppt/tableStyles.xml" Id="R4bf740fe20b447e2" /><Relationship Type="http://schemas.openxmlformats.org/officeDocument/2006/relationships/slide" Target="/ppt/slides/slide1.xml" Id="R592b94e8065e470e" /><Relationship Type="http://schemas.openxmlformats.org/officeDocument/2006/relationships/slide" Target="/ppt/slides/slide2.xml" Id="R7c0fac1ccfed4ac4" /><Relationship Type="http://schemas.openxmlformats.org/officeDocument/2006/relationships/slide" Target="/ppt/slides/slide3.xml" Id="R52ea2f0bf1724737" /><Relationship Type="http://schemas.openxmlformats.org/officeDocument/2006/relationships/slide" Target="/ppt/slides/slide4.xml" Id="R0701544808bb4631" /><Relationship Type="http://schemas.openxmlformats.org/officeDocument/2006/relationships/slide" Target="/ppt/slides/slide5.xml" Id="Rf97a05296ef9450d" /><Relationship Type="http://schemas.openxmlformats.org/officeDocument/2006/relationships/slide" Target="/ppt/slides/slide6.xml" Id="Rfec9612dd4874e52" /><Relationship Type="http://schemas.openxmlformats.org/officeDocument/2006/relationships/slide" Target="/ppt/slides/slide7.xml" Id="Rbb2c83d603da42f5" /><Relationship Type="http://schemas.openxmlformats.org/officeDocument/2006/relationships/slide" Target="/ppt/slides/slide8.xml" Id="R27c85ff489fa4ee4" /><Relationship Type="http://schemas.openxmlformats.org/officeDocument/2006/relationships/slide" Target="/ppt/slides/slide9.xml" Id="R732c3978bf734a24" /><Relationship Type="http://schemas.openxmlformats.org/officeDocument/2006/relationships/slide" Target="/ppt/slides/slide10.xml" Id="R5c8a0afca0f64282" /><Relationship Type="http://schemas.openxmlformats.org/officeDocument/2006/relationships/slide" Target="/ppt/slides/slide11.xml" Id="R38bf0bf4d7d64a0f" /><Relationship Type="http://schemas.openxmlformats.org/officeDocument/2006/relationships/slide" Target="/ppt/slides/slide12.xml" Id="R4e7e64dd34fd49f6" /><Relationship Type="http://schemas.openxmlformats.org/officeDocument/2006/relationships/slide" Target="/ppt/slides/slide13.xml" Id="R56b8b26e51c847e9" /><Relationship Type="http://schemas.openxmlformats.org/officeDocument/2006/relationships/slide" Target="/ppt/slides/slide14.xml" Id="R629139778e1347cf" /><Relationship Type="http://schemas.openxmlformats.org/officeDocument/2006/relationships/slide" Target="/ppt/slides/slide15.xml" Id="R1ed679c7675a4492" /><Relationship Type="http://schemas.openxmlformats.org/officeDocument/2006/relationships/slide" Target="/ppt/slides/slide16.xml" Id="Rbb0b157539a04cb0" /><Relationship Type="http://schemas.openxmlformats.org/officeDocument/2006/relationships/slide" Target="/ppt/slides/slide17.xml" Id="R36d6efdb48d84553" /><Relationship Type="http://schemas.openxmlformats.org/officeDocument/2006/relationships/slide" Target="/ppt/slides/slide18.xml" Id="R3c04f47b577d452e" /><Relationship Type="http://schemas.openxmlformats.org/officeDocument/2006/relationships/slide" Target="/ppt/slides/slide19.xml" Id="Rd408ad5c28074ab0" /><Relationship Type="http://schemas.openxmlformats.org/officeDocument/2006/relationships/slide" Target="/ppt/slides/slide20.xml" Id="R76523c435b794ee4" /><Relationship Type="http://schemas.openxmlformats.org/officeDocument/2006/relationships/slide" Target="/ppt/slides/slide21.xml" Id="R596588ff52c144bc" /><Relationship Type="http://schemas.openxmlformats.org/officeDocument/2006/relationships/slide" Target="/ppt/slides/slide22.xml" Id="Rd6c7f0eb157c4599" /><Relationship Type="http://schemas.openxmlformats.org/officeDocument/2006/relationships/slide" Target="/ppt/slides/slide23.xml" Id="Rd45733ce50854629" /><Relationship Type="http://schemas.openxmlformats.org/officeDocument/2006/relationships/slide" Target="/ppt/slides/slide24.xml" Id="R845190a7c88d4715" /><Relationship Type="http://schemas.openxmlformats.org/officeDocument/2006/relationships/slide" Target="/ppt/slides/slide25.xml" Id="Rf8ba5ccf315e448e" /><Relationship Type="http://schemas.openxmlformats.org/officeDocument/2006/relationships/slide" Target="/ppt/slides/slide26.xml" Id="Rbd5f581985884131" /><Relationship Type="http://schemas.openxmlformats.org/officeDocument/2006/relationships/slide" Target="/ppt/slides/slide27.xml" Id="R0846e7be90d74151" /><Relationship Type="http://schemas.openxmlformats.org/officeDocument/2006/relationships/slide" Target="/ppt/slides/slide28.xml" Id="R1bac139196364c53" /><Relationship Type="http://schemas.openxmlformats.org/officeDocument/2006/relationships/slide" Target="/ppt/slides/slide29.xml" Id="Rea8795f997bb49cc" /><Relationship Type="http://schemas.openxmlformats.org/officeDocument/2006/relationships/slide" Target="/ppt/slides/slide30.xml" Id="Rb7c1290739a14ba2" /><Relationship Type="http://schemas.openxmlformats.org/officeDocument/2006/relationships/slide" Target="/ppt/slides/slide31.xml" Id="R7cbd5079aae04f86" /><Relationship Type="http://schemas.openxmlformats.org/officeDocument/2006/relationships/slide" Target="/ppt/slides/slide32.xml" Id="R79edf2af8279419f" /><Relationship Type="http://schemas.openxmlformats.org/officeDocument/2006/relationships/slide" Target="/ppt/slides/slide33.xml" Id="R4e5085cf253044b3" /><Relationship Type="http://schemas.openxmlformats.org/officeDocument/2006/relationships/slide" Target="/ppt/slides/slide34.xml" Id="R5dd0250cbcff4320" /><Relationship Type="http://schemas.openxmlformats.org/officeDocument/2006/relationships/slide" Target="/ppt/slides/slide35.xml" Id="Recba4ae4254347b8" /><Relationship Type="http://schemas.openxmlformats.org/officeDocument/2006/relationships/slide" Target="/ppt/slides/slide36.xml" Id="R10ec10123c9f4c23" /><Relationship Type="http://schemas.openxmlformats.org/officeDocument/2006/relationships/slide" Target="/ppt/slides/slide37.xml" Id="R21769c131e574fe4" /><Relationship Type="http://schemas.openxmlformats.org/officeDocument/2006/relationships/slide" Target="/ppt/slides/slide38.xml" Id="Rbb52df09a7cb4742" /><Relationship Type="http://schemas.openxmlformats.org/officeDocument/2006/relationships/slide" Target="/ppt/slides/slide39.xml" Id="Re2304cc8a65548ad" /><Relationship Type="http://schemas.openxmlformats.org/officeDocument/2006/relationships/slide" Target="/ppt/slides/slide40.xml" Id="R2c89fe6952c64689" /><Relationship Type="http://schemas.openxmlformats.org/officeDocument/2006/relationships/slide" Target="/ppt/slides/slide41.xml" Id="R2c0ed060e325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5b37742e1840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e6647774ab46f0" /><Relationship Type="http://schemas.openxmlformats.org/officeDocument/2006/relationships/notesMaster" Target="/ppt/notesMasters/notesMaster1.xml" Id="R0ed2182e120049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0e589567074bce" /><Relationship Type="http://schemas.openxmlformats.org/officeDocument/2006/relationships/notesMaster" Target="/ppt/notesMasters/notesMaster1.xml" Id="R3ca3a74658de45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003dab4ea248d4" /><Relationship Type="http://schemas.openxmlformats.org/officeDocument/2006/relationships/notesMaster" Target="/ppt/notesMasters/notesMaster1.xml" Id="Rb9ff2e1a024b47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affa34183840b8" /><Relationship Type="http://schemas.openxmlformats.org/officeDocument/2006/relationships/notesMaster" Target="/ppt/notesMasters/notesMaster1.xml" Id="R42bf0d92be8342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53795d16544f59" /><Relationship Type="http://schemas.openxmlformats.org/officeDocument/2006/relationships/notesMaster" Target="/ppt/notesMasters/notesMaster1.xml" Id="R2b55164963104a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2afbb2baba4238" /><Relationship Type="http://schemas.openxmlformats.org/officeDocument/2006/relationships/notesMaster" Target="/ppt/notesMasters/notesMaster1.xml" Id="Rf715b146d5d24e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7b647d35e44b0a" /><Relationship Type="http://schemas.openxmlformats.org/officeDocument/2006/relationships/notesMaster" Target="/ppt/notesMasters/notesMaster1.xml" Id="Re988e32a290647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c76473402f4fdf" /><Relationship Type="http://schemas.openxmlformats.org/officeDocument/2006/relationships/notesMaster" Target="/ppt/notesMasters/notesMaster1.xml" Id="R5ce231f5fc0e44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f0a289c6274c79" /><Relationship Type="http://schemas.openxmlformats.org/officeDocument/2006/relationships/notesMaster" Target="/ppt/notesMasters/notesMaster1.xml" Id="R43e58f4a604042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972198c4b14bfb" /><Relationship Type="http://schemas.openxmlformats.org/officeDocument/2006/relationships/notesMaster" Target="/ppt/notesMasters/notesMaster1.xml" Id="R73e3896df21d4e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f80cec08c74ef4" /><Relationship Type="http://schemas.openxmlformats.org/officeDocument/2006/relationships/notesMaster" Target="/ppt/notesMasters/notesMaster1.xml" Id="R40ab7963b78547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c1447885954cb3" /><Relationship Type="http://schemas.openxmlformats.org/officeDocument/2006/relationships/notesMaster" Target="/ppt/notesMasters/notesMaster1.xml" Id="R8a293eba333948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82e9b256224a70" /><Relationship Type="http://schemas.openxmlformats.org/officeDocument/2006/relationships/notesMaster" Target="/ppt/notesMasters/notesMaster1.xml" Id="Rb797d3b9662e48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74bc0d75834a65" /><Relationship Type="http://schemas.openxmlformats.org/officeDocument/2006/relationships/notesMaster" Target="/ppt/notesMasters/notesMaster1.xml" Id="R644c47ba7ee541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27a3c678ea4b90" /><Relationship Type="http://schemas.openxmlformats.org/officeDocument/2006/relationships/notesMaster" Target="/ppt/notesMasters/notesMaster1.xml" Id="R746b84fb702645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a0c70826b94e02" /><Relationship Type="http://schemas.openxmlformats.org/officeDocument/2006/relationships/notesMaster" Target="/ppt/notesMasters/notesMaster1.xml" Id="Rbc5acb55157d49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22805645ad4cd9" /><Relationship Type="http://schemas.openxmlformats.org/officeDocument/2006/relationships/notesMaster" Target="/ppt/notesMasters/notesMaster1.xml" Id="R30cd1c35f2d84d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e39e69ad3642f2" /><Relationship Type="http://schemas.openxmlformats.org/officeDocument/2006/relationships/notesMaster" Target="/ppt/notesMasters/notesMaster1.xml" Id="R8ebcca89e8a44b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f9f56c59b342e7" /><Relationship Type="http://schemas.openxmlformats.org/officeDocument/2006/relationships/notesMaster" Target="/ppt/notesMasters/notesMaster1.xml" Id="Ra0f869288c0542f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68267742d547d5" /><Relationship Type="http://schemas.openxmlformats.org/officeDocument/2006/relationships/notesMaster" Target="/ppt/notesMasters/notesMaster1.xml" Id="Rc571ccf2e62b48b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452854ddd14192" /><Relationship Type="http://schemas.openxmlformats.org/officeDocument/2006/relationships/notesMaster" Target="/ppt/notesMasters/notesMaster1.xml" Id="R31ac38087dea403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79b0804bd64f61" /><Relationship Type="http://schemas.openxmlformats.org/officeDocument/2006/relationships/notesMaster" Target="/ppt/notesMasters/notesMaster1.xml" Id="Rd7568c39f3db43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f692958c354eea" /><Relationship Type="http://schemas.openxmlformats.org/officeDocument/2006/relationships/notesMaster" Target="/ppt/notesMasters/notesMaster1.xml" Id="R88afeb44c8634d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35dd71247b41a0" /><Relationship Type="http://schemas.openxmlformats.org/officeDocument/2006/relationships/notesMaster" Target="/ppt/notesMasters/notesMaster1.xml" Id="Rb0e68601c2484c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9702067badf4c18" /><Relationship Type="http://schemas.openxmlformats.org/officeDocument/2006/relationships/notesMaster" Target="/ppt/notesMasters/notesMaster1.xml" Id="R4b55224e1ff748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a7daf7a3b2f4e4a" /><Relationship Type="http://schemas.openxmlformats.org/officeDocument/2006/relationships/notesMaster" Target="/ppt/notesMasters/notesMaster1.xml" Id="R503f0a0041ab4c0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3466ba56884770" /><Relationship Type="http://schemas.openxmlformats.org/officeDocument/2006/relationships/notesMaster" Target="/ppt/notesMasters/notesMaster1.xml" Id="Rd56dcb637c654bc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4d4f726ba2e4e57" /><Relationship Type="http://schemas.openxmlformats.org/officeDocument/2006/relationships/notesMaster" Target="/ppt/notesMasters/notesMaster1.xml" Id="Rf0364063e2f24e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870f164f98470d" /><Relationship Type="http://schemas.openxmlformats.org/officeDocument/2006/relationships/notesMaster" Target="/ppt/notesMasters/notesMaster1.xml" Id="R93417b77a89c44f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76c7b2782784573" /><Relationship Type="http://schemas.openxmlformats.org/officeDocument/2006/relationships/notesMaster" Target="/ppt/notesMasters/notesMaster1.xml" Id="R14d5a64765cd43f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40b26f913f24a1b" /><Relationship Type="http://schemas.openxmlformats.org/officeDocument/2006/relationships/notesMaster" Target="/ppt/notesMasters/notesMaster1.xml" Id="Rd30780ac140443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53a84ab936a4a01" /><Relationship Type="http://schemas.openxmlformats.org/officeDocument/2006/relationships/notesMaster" Target="/ppt/notesMasters/notesMaster1.xml" Id="R121d830697ff4aa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65ad84911df4a29" /><Relationship Type="http://schemas.openxmlformats.org/officeDocument/2006/relationships/notesMaster" Target="/ppt/notesMasters/notesMaster1.xml" Id="R7056c1b7f4be45b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9666e39720745c9" /><Relationship Type="http://schemas.openxmlformats.org/officeDocument/2006/relationships/notesMaster" Target="/ppt/notesMasters/notesMaster1.xml" Id="R89d86e02bbed42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e36d0f57a64b57" /><Relationship Type="http://schemas.openxmlformats.org/officeDocument/2006/relationships/notesMaster" Target="/ppt/notesMasters/notesMaster1.xml" Id="R63ad6cb1a8604aa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d86c270c19347e3" /><Relationship Type="http://schemas.openxmlformats.org/officeDocument/2006/relationships/notesMaster" Target="/ppt/notesMasters/notesMaster1.xml" Id="R56481f1fad28458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802858566834ab5" /><Relationship Type="http://schemas.openxmlformats.org/officeDocument/2006/relationships/notesMaster" Target="/ppt/notesMasters/notesMaster1.xml" Id="R58e3ef709a76426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626c3399d7047b4" /><Relationship Type="http://schemas.openxmlformats.org/officeDocument/2006/relationships/notesMaster" Target="/ppt/notesMasters/notesMaster1.xml" Id="Rc01747a01645495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f4e8ba7d0754426" /><Relationship Type="http://schemas.openxmlformats.org/officeDocument/2006/relationships/notesMaster" Target="/ppt/notesMasters/notesMaster1.xml" Id="R92be0bec7cce431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d49feb3b83048a1" /><Relationship Type="http://schemas.openxmlformats.org/officeDocument/2006/relationships/notesMaster" Target="/ppt/notesMasters/notesMaster1.xml" Id="R20f7281461ca420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b903f6828804a16" /><Relationship Type="http://schemas.openxmlformats.org/officeDocument/2006/relationships/notesMaster" Target="/ppt/notesMasters/notesMaster1.xml" Id="Rd568e47c4b4347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【教学意义】开场先说明讲课人背景、课程目的和章节结构。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先介绍我的学习和工作经历，再说明课程为什么选择无人机与卫星作为案例。本课重点不是复杂代码，而是理解嵌入式产品怎样从需求走到设计、开发、调试和验证。随后将按章节进入无人机、研发流程、测试调试、卫星系统和知识梳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【教学意义】先建立讲者经历与后续案例的关系。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先用个人经历说明今天课程的案例来源。后续的无人机和卫星内容，都来自实际嵌入式研发工作中的典型环节。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【教学意义】帮助学生建立工程经历和课程内容的联系。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2017年从自动化测控技术与仪器专业毕业。毕业后先在沈阳从事无人机相关的嵌入式工作，接触过多旋翼、固定翼等方向。2021年到北京后，开始从事商业航天领域的卫星星上软件嵌入式开发。这些经历构成今天课程的案例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【教学意义】按原大纲介绍工程场景。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主要介绍几类工作场景。无人机相关工作包括缩比模型、飞控与整机系统；后面还会讲到卫星项目中的星上计算机和软件。这里不展开涉密或不方便公开的细节，重点让大家知道嵌入式系统在不同产品中的位置和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【教学意义】对应大纲中的课程目的。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本节课的目的有三个。第一，了解嵌入式系统开发的大致流程。第二，认识研发项目中不同部门怎样协作。第三，理解为什么实际工作不能只会写代码，还要会调试、测试、记录和沟通。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【教学意义】通过具体产品建立“输入、处理、输出”的系统认识。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这一章以无人机飞控为例，复习 STM32 外设如何连接传感器、通信模块、存储设备和执行机构。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【教学意义】从原大纲的产品架构开始讲外设。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下面进入沈阳无人机经历中的产品架构。这个教学示例以 STM32F407 作为主控。输出部分由多路 PWM 控制信号连接电调，再由电调驱动无刷电机。输入部分包括电池状态、温度、姿态、GPS、遥控等信息。请先记住一个整体思路：输入信息进入主控，主控处理后产生输出。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【教学意义】用原图呈现无人机完整系统。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来自讲课大纲，展示了八旋翼无人机飞控系统的完整教学框图。讲这一页时，先从上方的供电和电源管理开始，再看左侧输入传感器，中间主控，右侧电调和电机，最后看下方的存储、通信和调试。图中的器件和连接是教学示意，具体项目应以真实原理图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【教学意义】解释原大纲列出的输入外设及典型接口。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从输入部分看外设。电池状态可以通过 ADC 采样；DS18B20 用于温度信息；GPS 通过 UART 提供位置和时间；IMU6050 等惯性传感器通过 I²C 连接；SD 卡通常通过 SPI 保存日志。这里的重点不是死记接口，而是理解不同外设为系统提供不同类型的信息。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【教学意义】理解从控制信号到执行机构的路径。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再看输出部分。控制器通过 PWM 等控制信号把指令交给电调，电调再驱动无刷电机。数传、GPS 和遥控等模块可能使用 UART 通信。开发阶段还需要 SWD 等调试接口，用于程序下载和在线 Debug。请特别注意，主控输出的是控制信号，不能直接驱动大功率电机。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【教学意义】理解需求、立项、总体、硬件、软件与测试之间的关系。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这一章先讲产品需求的来源，再讲研发部门怎样将需求分解为可执行的设计、开发和验证任务。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【教学意义】对应大纲中“一个产品不光有需求，还有背景”。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大纲强调，一个产品不光有直接需求，还有行业背景。当时无人机行业进入快速发展阶段，团队会结合政策、市场、用户任务和自身能力判断是否立项。内部立项会决定研发方向、目标型号、大概样式、研发周期和阶段目标。嵌入式开发在这里还没有开始写代码，而是先理解产品要解决什么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【教学意义】按原图说明需求从来源到项目的流程。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对应大纲中的需求来源。需求可以来自客户定制、市场反馈、售后问题和技术演进。团队需要收集、整理、澄清，再开展技术可行性、成本、资源和优先级评审。评审通过的需求才进入项目或版本计划。需求变化也要按流程记录和评估，不能只靠口头沟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【教学意义】理解立项如何把方向变成计划。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立项之后，要把方向变成可执行的计划。团队需要确定目标用户、产品型号和基本定位，制定研发周期和阶段目标。总体方案确定系统架构、主要功能和技术路线，然后把任务拆分给不同部门。方案在实施前还要评审，尽量在早期发现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【教学意义】认识项目组织和接口关系。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在公司里，嵌入式软件只是产品的一部分。总体部门负责系统要求和任务分解；结构部门处理安装和结构问题；硬件部门负责电路、PCB 和器件选型；软件部门实现功能并参与联调；测试部门按需求验证。销售或市场也会把客户需求带入项目。不同公司组织不同，但接口和协作是共同的问题。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【教学意义】用原图说明从产品立项到测试的研发闭环。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来自原大纲，是以无人机开发为例的公司内部研发流程。它把行业背景、立项、总体方案、软件部门和测试部门放在一条线上。讲解时可以指出：总体方案完成任务分解，软件按需求和详细设计开发，测试按测试大纲和用例验证，问题再反馈到项目中形成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【教学意义】理解器件选择不只看性能。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硬件部门会根据功能需求和成本要求选择器件。比如主控芯片不只看主频和外设数量，还要看供货、封装、电源、开发工具和团队经验。硬件人员还需要和软件人员协商，确认接口、存储和外设资源能否满足开发要求。这里的大意是：选型是工程权衡，不是只选参数最大的器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【教学意义】理解软件开发前的设计输入。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软件部门先要理解和整理需求，形成需求文档；再做详细设计，把模块、接口和功能说明清楚。开发人员实现的功能应当与详细设计对应。软件工作的输入不只有文字需求，还包括总体指标、硬件原理图和最终电路板。只有知道硬件怎样连接，软件才能正确配置接口并开始调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【教学意义】认识测试活动如何服务于需求验证。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试部门首先编写测试大纲，再设计详细测试用例。测试不是随便试一试，而是对照需求和设计逐项验证。测试结果要记录并反馈问题，问题修复后还要重新验证。这样可以回答一个很重要的问题：产品功能是否真的达到了最初的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【教学意义】认识软件修改、自测与仿真的基本工程方法。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这一章把新人常见的软件工作和测试验证流程联系起来，说明为什么要逐步接近真实系统。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【教学意义】把研发流程联系到新人实际工作。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大纲中提到，刚入职时主要根据领导需求进行软件修改。听起来简单，但实际需要先理解当前版本、修改目的和相关模块，再按照团队流程完成修改、自测和提交。这个阶段最重要的是养成记录、验证和沟通的习惯，不要看到问题就随意改很多地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【教学意义】理解版本管理是团队软件开发的基础。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软件开发的第一步是版本管理。Git、SourceTree、SVN 等工具可以记录代码的变化。团队使用版本管理，不只是为了保存文件，更是为了知道谁改了什么、为什么修改，以及出现问题时怎样比较和回退。工具名称可以不同，核心思想是让软件变化可追踪、可协作。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【教学意义】认识编码规范的工程价值。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是软件编码规范。编码规范会约定命名、格式、注释和一些常见写法。它的价值不在于让代码看起来完全一样，而在于让其他同事能读懂、检查和维护。实际项目会有自己的规范，大家今后写课程代码时也可以从清晰命名、适当注释和统一格式开始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【教学意义】理解测试从简单到真实的层次。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软件修改后要先做自测试。纯软件仿真通常最方便，可以较早检查部分逻辑；半物理仿真会把模型和部分真实硬件结合起来；随后可以进行小实物或缩比测试，最后才进入真实实物测试。不同项目的测试条件不同，但逐步接近真实环境有助于降低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【教学意义】用原图说明验证环境逐步接近真实系统。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来自原大纲，展示飞控软件从模型在环、软件在环、处理器在环、硬件在环，到地面联试和飞行试验的分阶段验证。各阶段使用的对象不同，成本、风险和真实程度也不同。课堂不需要记住每一个缩写，但要理解为什么不能只做一次最终飞行试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【教学意义】形成可复用的排查思路。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这一章讲串口打印、运行日志、在线 Debug 和故障树，重点是先保留证据，再定位根因。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【教学意义】建立有步骤的排查习惯。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现问题时，先把现象说清楚：什么时候出现、是否能稳定复现、和上一次正常状态有什么差异。可以先通过打印信息判断程序运行到哪里，再使用二分法等方式逐步缩小范围。不要一次改很多变量，否则很难知道问题真正在哪里。每一步检查都应有记录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【教学意义】认识日志在问题复盘中的作用。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原大纲提到，SD 卡等存储设备可以记录运行日志。日志中可能包含姿态、控制量、传感器数据等信息，用于事后回放和分析。它帮助我们保留运行证据，但具体记录哪些数据、采样频率和保存时间，要由项目需求决定。分析日志时还要结合异常发生时间、软件版本和测试现场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【教学意义】理解 Debug 能观察程序内部状态。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 Debug 的优点是可以看到嵌入式系统内部变量，了解程序执行到哪里、数据是否符合预期。它适合分析调用路径和内部状态。实际调试常常需要配合串口日志、示波器或逻辑分析仪，因为 Debug 看到的是程序内部，硬件接口和实际信号还需要其他工具确认。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【教学意义】介绍故障树作为结构化排查工具。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故障树绘制是把一个顶层故障逐步拆分为可能原因。例如系统数据异常，可能与供电、硬件连接、初始化配置或软件处理逻辑有关。我们把这些分支列出来，再逐项设计检查方法。故障树帮助团队不遗漏方向，但最终结论仍然要依靠测量、日志和试验来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【教学意义】从无人机案例过渡到星载软件与计算系统。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这一章用星载计算机示例说明 CPU、FPGA、BSP 的分工，以及航空和航天应用环境的差异。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【教学意义】从无人机案例过渡到卫星工程。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2021年到北京后，我开始从事商业航天行业的卫星星上软件嵌入式开发工作。这里同样要关注需求、架构、软件和验证，但运行环境和产品约束与无人机不同。接下来用大纲中的卫星示意图，介绍 CPU、FPGA、BSP 和软件架构等概念。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【教学意义】认识大纲中的 CPU、FPGA 与 BSP 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这张图来自原大纲，是一个基于 i.MX8 CPU 加 FPGA 的星载计算系统教学示意。CPU 一般运行 Linux 和应用软件，FPGA 可以承担项目定义的控制和接口逻辑，BSP 层负责让操作系统和软件能够使用板级硬件。不同卫星的架构会不同，这里只用来帮助理解分层和分工。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【教学意义】将星载架构图中的概念单独讲清楚。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把图中的三个概念单独说明。CPU 适合运行操作系统和上层软件任务；FPGA 可以根据项目需要实现逻辑和接口；BSP 是板级支持包，包含驱动和硬件适配内容，使软件能够访问串口、I²C、SPI 等设备。它们如何划分功能由具体项目决定，不能认为所有系统都采用同一种架构。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插图来源：讲课大纲.docx。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【教学意义】结合工作经验比较应用环境。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航空与航天的区别，首先体现在运行环境。航空器通常在大气中运行，需要考虑气动力和动力学；航天器进入空间后，会面对不同的热环境、辐射和维护条件。大纲中提到抗辐照相关内容，这类设计需要根据具体任务和环境要求确定。两个领域都离不开系统设计、可靠性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【教学意义】将工程约束与基础知识放回完整开发流程中理解。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这一章补充知识产权、安全意识和外设基础，并把课程主线收束到工程能力的持续积累。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【教学意义】补充原大纲中的法律和知识产权意识。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纲中提到软件著作权和专利。工作中需要了解成果保护、资料使用和适用规范等问题。软件著作权和专利的申请条件、权利归属以及单位奖励，都应当根据实际制度和具体时间确认。原大纲中的金额可以作为个人经历的补充，但不应当作为普遍标准向学生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【教学意义】回顾大纲中的“外设存在意义”。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最后回到基础概念。外设可以理解为芯片内部协助完成具体任务的功能模块。GPIO 处理数字输入输出，PWM 产生控制脉冲，ADC 把模拟电压转换为数字数据，UART、SPI、I²C 用于通信。学习外设时，先问它解决什么问题，再看它怎样配置和连接。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【教学意义】将原大纲结尾归纳为学习方向。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大纲最后列出了工作中常用的知识点。首先是外设和接口概念，这是理解硬件和软件如何连接的基础。还需要知道编译、链接和程序运行的基本过程，具备版本管理和开发流程意识，并至少熟悉一种操作系统。项目中也会使用禅道等问题单系统记录任务和问题。工具会更新，但清晰分析和协作的能力会一直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【教学意义】回顾“需求、设计、开发、调试、验证”的完整链路。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最后用一页总结回顾整节课：嵌入式开发从需求出发，以设计、实现、调试和验证形成闭环。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【教学意义】回顾大纲所有主线内容。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按照我的讲课大纲，先介绍了个人经历和无人机系统，再讲了需求、立项、部门协作和软件测试，随后介绍了调试排查与卫星系统，最后回顾了外设和嵌入式基础能力。希望大家记住：工程开发从需求开始，靠设计、实现、调试和测试形成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11a3175f14e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55b90382a43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17f740e044f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69751ab9d4b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d118fb6c045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22dbb620f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7D28E-F118-40C8-AE48-D0B434150F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7E086B-D35F-4DB1-A3E4-297FEAA12E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D9B519-A16D-4C03-A330-8270CD05C4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94E0ED-2BFE-497E-96D2-AAE66A284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A65638-237B-4516-B2FF-5E8E8E4343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76ABB6-33DF-4CAD-9D5E-C7ADEA178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D5FA7B-3349-4BD8-8E52-70CED41820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181CD7-DD52-4E87-8812-289CD4E0B1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CFA5E7-ED2D-442A-8834-9B976D7F1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C401F-161E-4D3D-80D4-39198FACFB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6dd357d9247cd" /><Relationship Type="http://schemas.openxmlformats.org/officeDocument/2006/relationships/slideLayout" Target="/ppt/slideLayouts/slideLayout1.xml" Id="R62b500bcaca345f3" /><Relationship Type="http://schemas.openxmlformats.org/officeDocument/2006/relationships/slideLayout" Target="/ppt/slideLayouts/slideLayout2.xml" Id="Rd7e48f6398f84417" /><Relationship Type="http://schemas.openxmlformats.org/officeDocument/2006/relationships/slideLayout" Target="/ppt/slideLayouts/slideLayout3.xml" Id="R289f1bf3d0a14c4c" /><Relationship Type="http://schemas.openxmlformats.org/officeDocument/2006/relationships/slideLayout" Target="/ppt/slideLayouts/slideLayout4.xml" Id="R21712112ab20467b" /><Relationship Type="http://schemas.openxmlformats.org/officeDocument/2006/relationships/slideLayout" Target="/ppt/slideLayouts/slideLayout5.xml" Id="Rc1efffa31fc04c01" /><Relationship Type="http://schemas.openxmlformats.org/officeDocument/2006/relationships/slideLayout" Target="/ppt/slideLayouts/slideLayout6.xml" Id="Rc054c73de7ab49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b500bcaca345f3"/>
    <p:sldLayoutId xmlns:r="http://schemas.openxmlformats.org/officeDocument/2006/relationships" id="2147483650" r:id="Rd7e48f6398f84417"/>
    <p:sldLayoutId xmlns:r="http://schemas.openxmlformats.org/officeDocument/2006/relationships" id="2147483651" r:id="R289f1bf3d0a14c4c"/>
    <p:sldLayoutId xmlns:r="http://schemas.openxmlformats.org/officeDocument/2006/relationships" id="2147483652" r:id="R21712112ab20467b"/>
    <p:sldLayoutId xmlns:r="http://schemas.openxmlformats.org/officeDocument/2006/relationships" id="2147483653" r:id="Rc1efffa31fc04c01"/>
    <p:sldLayoutId xmlns:r="http://schemas.openxmlformats.org/officeDocument/2006/relationships" id="2147483654" r:id="Rc054c73de7ab49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d579a86034782" /><Relationship Type="http://schemas.openxmlformats.org/officeDocument/2006/relationships/notesSlide" Target="/ppt/notesSlides/notesSlide1.xml" Id="Rc5d695d757b842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0f45074474373" /><Relationship Type="http://schemas.openxmlformats.org/officeDocument/2006/relationships/notesSlide" Target="/ppt/notesSlides/notesSlide2.xml" Id="R7f1eaa530b5e45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2c6b22eb0491d" /><Relationship Type="http://schemas.openxmlformats.org/officeDocument/2006/relationships/image" Target="/ppt/media/image.png" Id="R2d53dac438534a40" /><Relationship Type="http://schemas.openxmlformats.org/officeDocument/2006/relationships/notesSlide" Target="/ppt/notesSlides/notesSlide3.xml" Id="Rb910ceb686644d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aa791206f482f" /><Relationship Type="http://schemas.openxmlformats.org/officeDocument/2006/relationships/image" Target="/ppt/media/image2.png" Id="R2a6f8bc66ffb46fc" /><Relationship Type="http://schemas.openxmlformats.org/officeDocument/2006/relationships/notesSlide" Target="/ppt/notesSlides/notesSlide4.xml" Id="R8b2e02234d6e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6dc6f815c46f3" /><Relationship Type="http://schemas.openxmlformats.org/officeDocument/2006/relationships/notesSlide" Target="/ppt/notesSlides/notesSlide5.xml" Id="Rb95d45278e5544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3861223f34280" /><Relationship Type="http://schemas.openxmlformats.org/officeDocument/2006/relationships/notesSlide" Target="/ppt/notesSlides/notesSlide6.xml" Id="R676cab9b9b724c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fef8ebd8a4aea" /><Relationship Type="http://schemas.openxmlformats.org/officeDocument/2006/relationships/notesSlide" Target="/ppt/notesSlides/notesSlide7.xml" Id="R10d37ecea5ec4e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99f72a9de45e1" /><Relationship Type="http://schemas.openxmlformats.org/officeDocument/2006/relationships/image" Target="/ppt/media/image3.png" Id="R7e547af9e2ae4cf0" /><Relationship Type="http://schemas.openxmlformats.org/officeDocument/2006/relationships/notesSlide" Target="/ppt/notesSlides/notesSlide8.xml" Id="R081967c8fa1a47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36d2d734342ce" /><Relationship Type="http://schemas.openxmlformats.org/officeDocument/2006/relationships/image" Target="/ppt/media/image4.png" Id="Re74ec371214e47a3" /><Relationship Type="http://schemas.openxmlformats.org/officeDocument/2006/relationships/notesSlide" Target="/ppt/notesSlides/notesSlide9.xml" Id="R95d38024a4b048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fc356f10241c7" /><Relationship Type="http://schemas.openxmlformats.org/officeDocument/2006/relationships/image" Target="/ppt/media/image5.png" Id="Re9f5d8d9a0864c2a" /><Relationship Type="http://schemas.openxmlformats.org/officeDocument/2006/relationships/notesSlide" Target="/ppt/notesSlides/notesSlide10.xml" Id="Rd0aaf5ed72394c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2d4757d27490c" /><Relationship Type="http://schemas.openxmlformats.org/officeDocument/2006/relationships/notesSlide" Target="/ppt/notesSlides/notesSlide11.xml" Id="R438e56b048a84e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320ce46b94413" /><Relationship Type="http://schemas.openxmlformats.org/officeDocument/2006/relationships/notesSlide" Target="/ppt/notesSlides/notesSlide12.xml" Id="R8f881c8b964e4c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1e1d0a6564609" /><Relationship Type="http://schemas.openxmlformats.org/officeDocument/2006/relationships/image" Target="/ppt/media/image6.png" Id="Ra3060e02c9fd42f1" /><Relationship Type="http://schemas.openxmlformats.org/officeDocument/2006/relationships/notesSlide" Target="/ppt/notesSlides/notesSlide13.xml" Id="Reb9686ad388c45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1d123a9e464e90" /><Relationship Type="http://schemas.openxmlformats.org/officeDocument/2006/relationships/notesSlide" Target="/ppt/notesSlides/notesSlide14.xml" Id="Rc5339b9d0b5b40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4dab3e2a94c02" /><Relationship Type="http://schemas.openxmlformats.org/officeDocument/2006/relationships/notesSlide" Target="/ppt/notesSlides/notesSlide15.xml" Id="Rdba32d40bec945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09489ef544993" /><Relationship Type="http://schemas.openxmlformats.org/officeDocument/2006/relationships/image" Target="/ppt/media/image7.png" Id="Rd568433e4102498b" /><Relationship Type="http://schemas.openxmlformats.org/officeDocument/2006/relationships/notesSlide" Target="/ppt/notesSlides/notesSlide16.xml" Id="R462ef0ae34384f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ab70d906e446d" /><Relationship Type="http://schemas.openxmlformats.org/officeDocument/2006/relationships/notesSlide" Target="/ppt/notesSlides/notesSlide17.xml" Id="Rac6e823b4ad040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4594499584b80" /><Relationship Type="http://schemas.openxmlformats.org/officeDocument/2006/relationships/notesSlide" Target="/ppt/notesSlides/notesSlide18.xml" Id="Rff2c2f551b9440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a74de2e814264" /><Relationship Type="http://schemas.openxmlformats.org/officeDocument/2006/relationships/notesSlide" Target="/ppt/notesSlides/notesSlide19.xml" Id="R78efc89ff34c49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2cdcafd97443d" /><Relationship Type="http://schemas.openxmlformats.org/officeDocument/2006/relationships/notesSlide" Target="/ppt/notesSlides/notesSlide20.xml" Id="R8ecb2faf7b6e49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d3fd184b94150" /><Relationship Type="http://schemas.openxmlformats.org/officeDocument/2006/relationships/notesSlide" Target="/ppt/notesSlides/notesSlide21.xml" Id="Rf83cb7f611ca4d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2968862ad473d" /><Relationship Type="http://schemas.openxmlformats.org/officeDocument/2006/relationships/notesSlide" Target="/ppt/notesSlides/notesSlide22.xml" Id="R622aa6f0ddd842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192474f7942cf" /><Relationship Type="http://schemas.openxmlformats.org/officeDocument/2006/relationships/notesSlide" Target="/ppt/notesSlides/notesSlide23.xml" Id="Rc461b6869dee48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2f68bf8bf4964" /><Relationship Type="http://schemas.openxmlformats.org/officeDocument/2006/relationships/notesSlide" Target="/ppt/notesSlides/notesSlide24.xml" Id="R96a1d717b4f445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0a64de3534ad7" /><Relationship Type="http://schemas.openxmlformats.org/officeDocument/2006/relationships/image" Target="/ppt/media/image8.png" Id="R637a49e4898a41bc" /><Relationship Type="http://schemas.openxmlformats.org/officeDocument/2006/relationships/notesSlide" Target="/ppt/notesSlides/notesSlide25.xml" Id="R403a7325039d45a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f38414c634625" /><Relationship Type="http://schemas.openxmlformats.org/officeDocument/2006/relationships/notesSlide" Target="/ppt/notesSlides/notesSlide26.xml" Id="Rb0119910dce540d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29a38b0384552" /><Relationship Type="http://schemas.openxmlformats.org/officeDocument/2006/relationships/notesSlide" Target="/ppt/notesSlides/notesSlide27.xml" Id="R6e8e1aacf9b04ca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4b4acd5c94593" /><Relationship Type="http://schemas.openxmlformats.org/officeDocument/2006/relationships/notesSlide" Target="/ppt/notesSlides/notesSlide28.xml" Id="R0b7f16b935e1407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6fd9407124095" /><Relationship Type="http://schemas.openxmlformats.org/officeDocument/2006/relationships/notesSlide" Target="/ppt/notesSlides/notesSlide29.xml" Id="Ref6a478ad08848b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926a657b04309" /><Relationship Type="http://schemas.openxmlformats.org/officeDocument/2006/relationships/notesSlide" Target="/ppt/notesSlides/notesSlide30.xml" Id="R5affcef883bd47f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41de38c724fe9" /><Relationship Type="http://schemas.openxmlformats.org/officeDocument/2006/relationships/notesSlide" Target="/ppt/notesSlides/notesSlide31.xml" Id="R786694ea00a3400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26fe31b844603" /><Relationship Type="http://schemas.openxmlformats.org/officeDocument/2006/relationships/image" Target="/ppt/media/image9.png" Id="Rb195869a511742d3" /><Relationship Type="http://schemas.openxmlformats.org/officeDocument/2006/relationships/notesSlide" Target="/ppt/notesSlides/notesSlide32.xml" Id="R44538843e82846c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f13531b2c4326" /><Relationship Type="http://schemas.openxmlformats.org/officeDocument/2006/relationships/image" Target="/ppt/media/image10.png" Id="R9edab76ec2284b9e" /><Relationship Type="http://schemas.openxmlformats.org/officeDocument/2006/relationships/notesSlide" Target="/ppt/notesSlides/notesSlide33.xml" Id="R817579fa37db489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f93f92d3f41ee" /><Relationship Type="http://schemas.openxmlformats.org/officeDocument/2006/relationships/image" Target="/ppt/media/image11.png" Id="R1e74493a3edb49c7" /><Relationship Type="http://schemas.openxmlformats.org/officeDocument/2006/relationships/notesSlide" Target="/ppt/notesSlides/notesSlide34.xml" Id="R9a1a5f089684422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20700d5a84b1e" /><Relationship Type="http://schemas.openxmlformats.org/officeDocument/2006/relationships/notesSlide" Target="/ppt/notesSlides/notesSlide35.xml" Id="R693fd8df2e0d438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1397cc7874fd9" /><Relationship Type="http://schemas.openxmlformats.org/officeDocument/2006/relationships/notesSlide" Target="/ppt/notesSlides/notesSlide36.xml" Id="R25c79391bd7e4e8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ae8f985a143a6" /><Relationship Type="http://schemas.openxmlformats.org/officeDocument/2006/relationships/notesSlide" Target="/ppt/notesSlides/notesSlide37.xml" Id="R24c1f42881ee480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58ce9ae6c4475" /><Relationship Type="http://schemas.openxmlformats.org/officeDocument/2006/relationships/notesSlide" Target="/ppt/notesSlides/notesSlide38.xml" Id="R5adcea18edd6487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ebe0a976d4104" /><Relationship Type="http://schemas.openxmlformats.org/officeDocument/2006/relationships/notesSlide" Target="/ppt/notesSlides/notesSlide39.xml" Id="R4683866c40214f7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e864216dc74988" /><Relationship Type="http://schemas.openxmlformats.org/officeDocument/2006/relationships/notesSlide" Target="/ppt/notesSlides/notesSlide40.xml" Id="R6a7f2a047e1b42d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b984166cf48bc" /><Relationship Type="http://schemas.openxmlformats.org/officeDocument/2006/relationships/notesSlide" Target="/ppt/notesSlides/notesSlide41.xml" Id="Re482be2336294a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86B91-BA27-4A6C-AAA1-3F88C89B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70427-6E65-4E6E-96CE-3F7D817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讲课人介绍与课程导入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3DD72-D693-4B67-8453-1CEDB352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无人机飞控与商业航天嵌入式工程经历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1F2F7-9794-43B3-8965-246875A2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讲课人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C4CC0-CE60-4596-904D-817BC429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2017 年自动化测控技术与仪器专业毕业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毕业后从事无人机飞控嵌入式开发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2021 年后从事商业航天星上软件开发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C9221-6F71-4662-AC47-9657F4E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B0A6A-D1A7-4A87-9FCB-E26DB792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本课目的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F186C-AED4-4E6B-A71D-27D367B2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81225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理解嵌入式系统开发流程</a:t>
            </a:r>
          </a:p>
          <a:p xmlns:a="http://schemas.openxmlformats.org/drawingml/2006/main">
            <a: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认识工程项目中的协作、测试与调试</a:t>
            </a:r>
          </a:p>
          <a:p xmlns:a="http://schemas.openxmlformats.org/drawingml/2006/main">
            <a:pPr>
              <a:def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用工程案例复习 STM32 外设概念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1963A-73D9-484A-AE84-2AF5D23E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60114-E575-466F-909D-99C01D2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655C4-3D90-45AC-A575-84401A2E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4476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第 1 章  自我介绍</a:t>
            </a:r>
          </a:p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第 2 章  无人机飞控系统</a:t>
            </a:r>
          </a:p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第 4 章  软件开发与测试验证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DE635-B975-413A-A67E-59F75986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67225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第 5 章  调试与故障定位</a:t>
            </a:r>
          </a:p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第 6 章  卫星嵌入式系统</a:t>
            </a:r>
          </a:p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第 7 章  工程意识与知识梳理</a:t>
            </a:r>
          </a:p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第 8 章  课程总结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0E3F8-5D6C-41D9-9C93-E98135CA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综合设计实例  ·  90 分钟</a:t>
            </a:r>
          </a:p>
        </p:txBody>
      </p:sp>
    </p:spTree>
    <p:extLst>
      <p:ext uri="{BB962C8B-B14F-4D97-AF65-F5344CB8AC3E}">
        <p14:creationId xmlns:p14="http://schemas.microsoft.com/office/powerpoint/2010/main" val="990509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CCD35-3458-4874-ABF5-A91C13F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026E7-42B7-4B45-A07B-8E0E64A9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366712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666EF-AACF-4B26-B5F0-EC2407CC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8AD4B-2ACE-4248-9614-62A854EB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 1 章  自我介绍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B8A30-0AC0-4D01-9FCB-018ADE91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从无人机到商业航天的嵌入式工程经历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CF577-51AA-4A6E-A34C-3D7DCBC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4A932-9B20-49B9-ABB3-6FE6C487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2D2E4-7F28-40A9-9B84-9D97CF74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学习与工作经历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无人机与卫星工程场景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本课目标与讲解路线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CB2E3-242D-43A2-9279-F99FD3E9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959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E3314-1760-46E9-A2E6-5EEE64DF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教学意义：先建立讲者经历与后续案例的关系。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ABE23-EF7D-48D8-88A2-FE5E9A50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嵌入式系统开发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C6520-26F1-4789-9971-812DA88E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740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0919D-B069-423F-BB6A-D2B22D11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0C387-3C80-4480-A529-6D3090F5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1 章  自我介绍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BEDEE-2736-4980-9A01-98BD809D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9F861-B8B8-4879-A4A0-A945F23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学习与工作经历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5CE18-C216-4DA9-8A04-A27BF796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42B8E-68AC-4DEB-9D9A-BCFC3565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F7B9B-D573-4F42-9DB1-D1CF9A8B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5B578-C158-44E9-B9A7-47A07546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2017 年：自动化测控技术与仪器专业毕业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031D9-3445-459D-91F6-1459FB8E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0D2BB-886F-4CC7-BEE4-9118AA81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4943E-FCA8-4E2C-9102-A334AC29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毕业后：在沈阳从事无人机相关嵌入式开发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5F40F-B588-48FB-99E0-1B291D63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2306D-B789-41F4-BD78-A21A2AC3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615A7-5AEA-49C2-BF25-2D541A2E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2021 年后：在北京从事商业航天星上软件开发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84F59-08E2-4F2C-BD0A-C12A5DD109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3dac438534a40"/>
          <a:stretch xmlns:a="http://schemas.openxmlformats.org/drawingml/2006/main"/>
        </p:blipFill>
        <p:spPr>
          <a:xfrm xmlns:a="http://schemas.openxmlformats.org/drawingml/2006/main">
            <a:off x="6191250" y="1654969"/>
            <a:ext cx="4857750" cy="364331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8A923-94A9-462D-9A45-ABC1C8D9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教学意义：帮助学生建立工程经历和课程内容的联系。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6477F-5F0F-4B6A-A354-849B35E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0864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972DB-5123-4D89-AC69-6DD7AF60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C6BAB-69D4-4B7D-9B50-B4988C98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1 章  自我介绍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BDC67-21C2-4D17-828E-EEAFC4B8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C5D44-5913-4251-8806-FF92E7B2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工程经历概览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FFF3E-FEA4-44C3-A136-0C89B810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974A8-F32B-426B-B04F-865E690E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FC0C0-2534-4FD8-86C4-4D92C1CE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6829C-0050-4CD8-83A1-87412628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无人机：缩比模型、飞控与整机系统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09AA1-23E3-4AE9-B7D0-6217801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4DA03-C4BA-4A7E-89E4-184C460A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1EB1C-29D8-41B3-9080-C6E8FD52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固定翼等飞行器相关工作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2D8EF-8376-40D1-AAC3-FB3B9891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CE8AA-2DB4-47A3-B25F-365D6032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5AFBE-5701-437C-89B7-EBDDD01C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卫星：星上软件与地面验证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F744D-E5D1-4F58-A1D4-CB820E00A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f8bc66ffb46fc"/>
          <a:stretch xmlns:a="http://schemas.openxmlformats.org/drawingml/2006/main"/>
        </p:blipFill>
        <p:spPr>
          <a:xfrm xmlns:a="http://schemas.openxmlformats.org/drawingml/2006/main">
            <a:off x="6191250" y="1857375"/>
            <a:ext cx="4857750" cy="3238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6D1BC-7949-4DE4-B612-C3DECADB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教学意义：按原大纲介绍工程场景。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FB687-F8A2-483E-8051-B497788D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9634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D872C-B1B8-4CA2-826F-EE81A38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ED854-292E-4627-9E27-D019DE5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1 章  自我介绍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3800D-363A-47E8-9A8B-F04A0A5D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C751C-E152-49B2-8FD8-672A63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本课目标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95C05-E7A2-4C58-AFCE-D09C7838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68B7C-3F54-4050-A1B9-F8C30A5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D89C2-5990-426D-AE30-93D3D118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7283C-57A7-4F68-9849-20523872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认识嵌入式系统开发的完整流程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602E6-9CAF-4380-92B8-E96789F0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3B260-985A-46E7-9571-2B439D0E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5A511-CA90-4417-9ED9-333919F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理解研发项目中的部门协作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1FAF2-79C4-4199-B6BC-8BB9505E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8FA40-D69D-4B30-A4A7-EE17C8AD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8299C-6A24-46D0-99D6-66DE3C52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掌握测试、调试与工程记录的基本意识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46DA9-8FF7-4D61-9A9F-C6BF3B10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47F81-0E1D-462C-8A6E-FB56DE48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DD24C-24C1-47E7-9783-D745AA1F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9D649-FCB6-418B-A5E5-7CB54CF7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本课以无人机飞控和星上软件为案例，不展开复杂代码。重点是建立“需求、设计、开发、调试、验证”的工程认识。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C6291-BE0D-467F-968D-F9D2D9B1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教学意义：对应大纲中的课程目的。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3C027-B1F6-4CBB-8F54-0F787B3F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2308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B16BC-AA11-444A-89BB-89D798AD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C89CF-3FE8-40EA-8067-31693EA8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366712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98D04-8DDC-44F6-BFE3-C507A2AF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162EF-65AE-4CF8-9AA2-F926FDB0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 2 章  无人机飞控系统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608EC-96FC-4ADB-A2D1-7459C264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以 STM32F407 飞控为例认识嵌入式系统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5689E-B3F2-4715-9EA3-DB90CDB1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79EFB-428C-4520-84CF-6C2459FE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02D39-65F7-491A-AF7D-7DBE440C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STM32F407 飞控总体架构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传感器、通信与存储接口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PWM、电调与无刷电机输出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E346F-8388-4E7D-9AD7-567332CD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959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F4653-D515-4F0C-A977-92659448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教学意义：通过具体产品建立“输入、处理、输出”的系统认识。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1EB40-228D-48F1-911C-89D4C69F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嵌入式系统开发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82BB4-31F9-47B7-91A6-853C871B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6349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65822-CB59-4EFC-BEBA-68ABCF79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B5A79-39BB-4573-9ABE-4B407249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2 章  无人机飞控系统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1E418-E1F1-4CD5-98DE-7D3273B0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68773-1697-4DAF-856E-9FFFBF26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无人机飞控系统概览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24222-DEC4-4E9F-9C76-5E8EE33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900CB-9336-416C-8C8E-3A4BDE1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10583-FBE8-4226-9C33-21DD2C85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2087E-DCD8-4017-858C-A0CA0BAB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主控：STM32F407 系列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F57E5-38E2-498F-9CE0-269B593F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E00F6-8A0C-4395-B8FA-386742EE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AD244-87BE-4DF8-9567-4C7D89B9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输出：8 路 PWM 控制电调和无刷电机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A0B74-366E-49FD-A0C9-5D197277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E0FB4-D3DC-4FBA-B540-14B509F5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A75D3-F434-4279-B633-6374A771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输入：传感器、GPS、遥控与电池状态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94C5A-9682-4B3D-A6BF-5B015B5D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01FF0-54C4-4E3D-9945-DE98029A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A8BB6-8083-4027-B65C-C8B2BFA2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469A8-45F4-4C5D-83E3-FA785317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飞控系统接收传感器、遥控和电池状态等输入，主控完成计算后，通过 PWM 等信号驱动执行机构。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F5D3D-F253-4B17-B447-90CCDEC3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教学意义：从原大纲的产品架构开始讲外设。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3A2F1-B525-4C87-9118-59AB1638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9093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FB02A-0B5F-4C96-8923-A6015406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D96EB-47F4-4D32-B3A4-358A27C6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2 章  无人机飞控系统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6F98A-3EE6-47AD-A99B-8B5060DC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CF1A6-821A-4F92-B57E-B40D2411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八旋翼无人机飞控系统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09B1D-9CD9-4B7F-BEBA-97062284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21E23-9A52-4B10-9C91-166FB3DC0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47af9e2ae4cf0"/>
          <a:stretch xmlns:a="http://schemas.openxmlformats.org/drawingml/2006/main"/>
        </p:blipFill>
        <p:spPr>
          <a:xfrm xmlns:a="http://schemas.openxmlformats.org/drawingml/2006/main">
            <a:off x="3270250" y="1571625"/>
            <a:ext cx="5651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E4675-4B8F-4EF5-8C59-72B2CD11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教学意义：用原图呈现无人机完整系统。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AA7B7-2193-4326-9245-023DB6B1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47851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99CE1-6BD0-4019-97B2-172D3C74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08627-2544-4576-BC42-6D7A2B99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2 章  无人机飞控系统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F6020-1AA3-42B9-B056-7E7D5687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A8F98-4151-4E51-B2A4-CD50D098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输入与传感器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FC535-B664-43E2-A82B-8CB6130F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BF793-5808-4669-AD9D-6F760283E8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ec371214e47a3"/>
          <a:stretch xmlns:a="http://schemas.openxmlformats.org/drawingml/2006/main"/>
        </p:blipFill>
        <p:spPr>
          <a:xfrm xmlns:a="http://schemas.openxmlformats.org/drawingml/2006/main">
            <a:off x="2831772" y="1571625"/>
            <a:ext cx="6528457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0E330-C2FC-4DF5-8B83-25701528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教学意义：解释原大纲列出的输入外设及典型接口。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FDA2B-D140-403A-A082-A7FEFB89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89078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EFA0C-7D99-47FD-9E31-F62B50A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840F6-99BD-4584-8A30-95BC6E59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2 章  无人机飞控系统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92B7F-487F-41AF-9E95-AE06C32F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2.4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F14C9-E138-4D72-AC27-23A060C2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输出、通信与调试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F817C-8CD3-48B7-AB01-5A24690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E1AA7-22DF-4BFE-8B0E-D7220AA7B7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5d8d9a0864c2a"/>
          <a:stretch xmlns:a="http://schemas.openxmlformats.org/drawingml/2006/main"/>
        </p:blipFill>
        <p:spPr>
          <a:xfrm xmlns:a="http://schemas.openxmlformats.org/drawingml/2006/main">
            <a:off x="3188106" y="1571625"/>
            <a:ext cx="5815788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B8928-E614-491B-91D7-17989185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教学意义：理解从控制信号到执行机构的路径。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491C9-36B8-4B73-877B-F36ABE48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2563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175F4-17E8-49F0-B0AA-A42A819B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4712B-8D89-4F58-960A-0682C3BD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366712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E3C6C-7293-4F40-8C65-5C964C73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454DC-173A-44BC-8CC5-771F27B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D0CD5-8748-4FC9-8E28-64FF0268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产品如何从任务要求走到总体方案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AA7BB-75F4-47E6-B93E-5F3EFCD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959FA-6A93-4B1A-AAA0-CEA3CCF2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A9D0E-35A5-4D33-A1CE-6C9728D4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需求来源、收集与评审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总体、硬件、软件和测试分工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从立项到验证的研发闭环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8CBEF-1435-4518-AA2D-CDE4B7C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959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45805-4D23-4341-8AEA-0443BAE0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教学意义：理解需求、立项、总体、硬件、软件与测试之间的关系。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78251-1AC7-43E4-B3F6-18A54836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嵌入式系统开发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68C64-14A8-4B5C-B050-D0EC953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90262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A8985-4710-411B-99AB-F2237548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FAB42-D3D9-499D-9AEB-C218E9FA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06A9E-9299-4148-A828-18315CD3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029BD-03D9-4740-BD3C-60A226C9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需求从哪里来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6CF24-A4F9-498D-886A-3C939499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2AF1F-B308-4021-A8E7-B32CB887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24A13-7668-4E83-94FA-B6488678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50AC4-23A7-44E8-B5F1-FA8DEF62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行业与政策背景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54513-19EC-406E-B1D4-B7872F52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F6C0A-5327-4A71-85E4-CB83F4FD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5CBEC-34AE-4DCD-A5BA-C5A5E81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客户任务与实际使用场景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252C9-BC92-40EA-9399-489B26BE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CD6A4-3E45-40A5-8A35-65102D9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C54BA-D37E-4D85-9B4D-A4F7EDF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市场机会与产品定位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3679A-9338-43FE-B787-35370D31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CFA24-882B-43DE-A3A2-AE72AEB6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5BA0F-1C1A-4E46-9545-1C45B0D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内部立项确定研发方向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92A83-E556-4A57-BA47-CB35E8F3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4DC44-D73E-4FC4-BA88-FE0942BF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63664-D707-4256-A01E-7DDEE03D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D5B02-736F-4610-8127-1BBAC5DB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产品需求既来自客户任务，也受到行业背景、市场机会和公司产品方向影响。立项决定后续研发目标。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5E7CF-56B0-4C73-A4DD-EDD5E84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教学意义：对应大纲中“一个产品不光有需求，还有背景”。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E3480-13A4-4058-9129-C3BDF84D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42149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7089E-A18E-4570-9238-1743ABA5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37F51-9610-4F8E-94D3-783D17F5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52AF3-5927-4D05-BC7F-EF1F135A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3.2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84596-838B-41A2-AD1E-43C76C21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需求收集与评审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91626-D9D8-4FB4-B0E2-52691BC5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8E3C0-16A6-469C-B3B8-27E09E6E2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60e02c9fd42f1"/>
          <a:stretch xmlns:a="http://schemas.openxmlformats.org/drawingml/2006/main"/>
        </p:blipFill>
        <p:spPr>
          <a:xfrm xmlns:a="http://schemas.openxmlformats.org/drawingml/2006/main">
            <a:off x="1349043" y="1571625"/>
            <a:ext cx="9493913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B3CC5-7EC7-4DD2-A6DA-F89B0A18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教学意义：按原图说明需求从来源到项目的流程。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05383-6138-4C40-93AD-8FE4E68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22075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D11E05-26BD-4E78-9A3B-0D06A946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51F2C-7326-468A-A389-C4086460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8B5C7-F11F-4E59-A5D2-9229656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48529-B2D8-4D53-BED1-22244CD4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内部立项与总体方案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6B8F3-E170-4E40-8C29-A8EDBFD3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A1E64-8CDA-4762-B37D-6A68DFD9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11D49-DE6A-49D0-9A73-FF56E3DD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0FD38-E9B2-40D0-9D65-5F6D2588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明确目标用户、产品型号与定位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B188C-2B0C-491F-A85A-CFAA5C68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73101-18DE-4438-8E45-E60BA26E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C6C6D-5F93-413C-A175-5AC48751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制定研发周期和阶段目标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65BBE-3E87-44A3-BF6E-063C7215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9BBAF-500A-45AA-AA66-6F233C96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8A43B-BBB4-4B41-9282-BB41A063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形成总体方案，拆分任务与接口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DE957-C5DE-4F29-AFD8-184BAA90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AA4B2-AFFF-41F2-B2DA-6A895D66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01A56-FBA0-446C-ABA0-4D21DA99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通过评审后推进项目实施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91FD5-2D38-4CF0-BCCD-D5722ABD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30F3D-DFA7-4667-8F09-A8940C35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7C588-12AD-49C9-B302-B158D43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03F8E-5BE2-49B3-81D8-3192A0F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立项后需要把产品方向变成可执行计划：确定周期、阶段目标、总体方案和部门接口。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6931B-E97D-4FBC-8901-9DF4FBC3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教学意义：理解立项如何把方向变成计划。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5B8BD-B3EF-4B19-B226-50D69374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748120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38390-0A1F-48B5-A0CE-327CF3DD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194EB-4134-43DE-857A-D531BD5D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AC9F9-7FD0-4968-892D-5F1E1B06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3.4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9AA81-7547-4520-8269-77C931E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嵌入式在研发中的位置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28A9E-E6C2-484F-B3BA-98244740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FE648-D21C-4569-9451-8BF402F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C8F47-AAC6-49A1-83C5-22FC565F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B9380-1D23-42CC-8A1A-63935AE2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总体部门：提出系统需求并分解任务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E8EA8-AAD4-462D-A248-CC1524B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109EB-6F94-4F52-8116-77B3CB1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EDE06-4BEF-44CE-99F9-0D5B07E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结构部门：负责安装、强度与外形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99EED-B6E4-4A8B-B00E-30D5DCA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E6DA0-90FE-493D-9506-C498E0D4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56B8-CEBB-4CC3-A3D4-042C6955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硬件部门：完成原理图、PCB 与器件选型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4BCBA-2DEA-4647-9AB1-1C059A7A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C4884-6BFC-4604-BC6C-738B4CF3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A465B-D79F-40D8-8EDF-B04C183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软件部门：实现功能并参与联调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3CB57-47E2-4D2D-AD28-FB1E16FD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55F52-D776-4126-B7E6-5489B4C6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7D1AA-24DC-45BD-B8E6-4DB6A97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测试部门：验证需求并反馈问题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9B0BB0-13C7-4D42-9C56-068EFBF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E1068-32CA-4354-B523-6D03AA6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68CC0-1E6C-4D3B-A024-E40D70E1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85B8D-168A-4282-BF14-F98BFA9A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嵌入式软件只是产品的一部分。软件人员必须理解总体指标、硬件接口和测试要求，才能完成联调。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3EBB7-5394-4347-8C02-CA6B6AE7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教学意义：认识项目组织和接口关系。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ADCAC-DCF9-4F81-B5E7-6025A078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53655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C2922-FB2C-4A06-B9CB-B9A91A8D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43A59-E3D3-483C-BD19-6D33EAAA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63962-5889-4E23-ACE2-52D880CE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A6EE2-1CC6-436B-9B3D-408A7FA2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从立项到验证的研发流程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7471B-03C5-47E0-853B-D07900BD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921D0-4284-41DC-996D-6B3369A34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8433e4102498b"/>
          <a:stretch xmlns:a="http://schemas.openxmlformats.org/drawingml/2006/main"/>
        </p:blipFill>
        <p:spPr>
          <a:xfrm xmlns:a="http://schemas.openxmlformats.org/drawingml/2006/main">
            <a:off x="2330335" y="1571625"/>
            <a:ext cx="7531329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26BF0-B693-45F1-9B15-A6A288A5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教学意义：用原图说明从产品立项到测试的研发闭环。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8458C-BA55-470F-AB0A-8B2284D9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669177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5D0D8-958D-4880-900A-67231173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3DDB2-BE47-45EE-B3CE-338F4D61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5303C-2A29-4E43-A5D3-D9D3B10D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3.6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53C5A-EC13-4722-A49D-D24D2FDF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硬件部门：器件选择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4A654-98F0-49BC-86C5-5CA62A5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6DCFA-6FBC-4DAB-852B-3ECC73E9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6ED02-70BA-44A4-9609-D00C18E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C43D8-07A1-4C2F-A81E-240E093E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依据功能需求选择器件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B8253-03D0-4627-A6B1-F9D517B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FD42-4F05-447D-A3E8-11881390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A00A3-AE86-42F3-A692-A7F3E54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同时评估成本、供货与开发条件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D2D23-B58B-496F-B260-D664491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03B07-E395-4AE6-ADC1-C6892EFF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FF923-DBB4-4C2D-91D8-5F4805A2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与软件协商接口和资源分配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9A748-847E-4A84-ABE4-011FB68D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44041-A98E-46A3-881D-08488C95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2D210-7A46-4110-88B6-960CAAE9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主控芯片可选择 STM32 等方案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F5020-B258-4980-9763-562463EA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79BC6-6F3E-41F7-A9B9-D238964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0048A-2B54-4149-AC14-A94E16B1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520B3-1E7B-4ABA-8B5D-FDE9F4A9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器件选型既要满足功能，也要考虑成本、供货、开发工具和团队经验。参数最高不一定最适合项目。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1066B-B544-4E17-BFBB-4495BE2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教学意义：理解器件选择不只看性能。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FBCE1-92BD-4A2D-9584-12F5623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931734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410A4-E8DF-4CFD-9F62-567238AE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4D941-EE44-40D6-B9DD-FC0C404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B876B-8268-4165-A54D-53AA6A89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3.7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0B627-33F6-4C42-A644-7011B0F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软件部门：从需求到详细设计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267F5-F087-4ED1-86C1-B9D8C360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88805-A61B-4DDB-91CD-33ED8B17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9D54A-6EBE-4E79-B7B9-B7A9F3B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DA0D6-DC80-4A5E-8476-6727DBB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整理需求并编写需求文档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16A3E-8999-408F-8B13-F9787D73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C70AA-B60E-4304-94F4-FB36A1AC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730E8-BFDF-4325-8A08-721034EB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形成详细设计报告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AE3A1-44D8-47AA-9D7E-DD77B6B0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F4EDE-96AE-42CC-86A2-0749BE7B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818A0-6045-41E9-9C96-84E0D9FF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软件功能与详细设计逐项对应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1DB4C-2BA2-4193-BA9E-D4B996D3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BFA82-056E-4679-8C44-5EA790E3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E59AA-C3A9-4DFC-B9A6-B2F62463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开发输入包括指标需求、原理图与电路板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E5879-324D-4954-9F6C-F205C269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B675F-27FA-4A7F-842C-A25B4F70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F6998-B4F7-43B7-98AE-B2CE2AF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80FCA-B456-4619-87CC-6735419C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软件实现前要弄清功能边界、接口和硬件资源。详细设计让需求、代码和测试能够相互对应。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13769-5DDD-4465-B2AA-0F37E78C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教学意义：理解软件开发前的设计输入。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0E666-00BF-468A-B261-2115E90E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229306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459EF1-A1F1-42AF-9C20-56C6E675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F104B-3016-4C59-BCC2-5E1B9A0C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3 章  需求与研发流程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5D9C0-26F0-4989-8B13-9FF08C31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3.8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E20B9-E78E-4066-8D90-2AD2AA1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测试部门：从大纲到用例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73F3C-3019-4330-83A2-1A21FC13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8455C-945C-4626-8A76-4982D4E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CCF3C-91B1-40B4-B713-058E30B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73B00-19B1-4A99-BBD1-BB1159C8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编写测试大纲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39373-E57C-470F-90F6-1A43F511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B41F6-06CD-4923-BB39-7A5225C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61DD6-4FD0-494A-93CB-DB7663A3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设计详细测试用例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C55ED-763E-4DAE-988B-87442A6D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65D1F-E678-4A97-A52D-771B3269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454C9-3253-489D-9B52-1A430031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依据需求和设计逐项验证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8404A-F61F-4388-A4D7-BDC955BC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6124C-FA99-41F7-A625-1E8C202A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2D8CC-D86F-47B8-9A22-492EA68D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记录结果并反馈问题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96B29-6365-4018-B162-45923ED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1023A-F7DC-43D2-8B94-109AD3A3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64933-3ECF-4869-A26C-826BEB05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7AF10-D2AD-45CE-937C-9E07B14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测试以需求为依据，而不是随意试验。测试用例、记录和回归验证共同证明功能是否满足要求。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0EBFE-9758-492C-8539-8ECC37EC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教学意义：认识测试活动如何服务于需求验证。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44C41-2E48-4BED-8327-6557919C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430056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D87E6-FFF7-4624-8C6A-2462E3DA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58F88-FC4E-4042-A49C-21F8701F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366712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F1AA0-79CB-4972-98B0-DBCBD3F1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B8321-B396-4277-8BC9-F260A49E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 4 章  软件开发与测试验证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3F6D4-56B1-4B9F-8816-11C65E92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从版本管理到逐级验证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70547-6159-4005-9502-21C1154D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48B9E-AC61-4FD4-A7AD-3E7BE13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A80DB-65D3-4C2B-BE6E-4762F7A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版本管理与编码规范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软件修改后的自测试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从仿真到实物的逐级验证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2EDB4-9604-4234-A1C9-1047700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959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06173-8927-4AD6-9977-625D656B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教学意义：认识软件修改、自测与仿真的基本工程方法。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E1D40-5EB4-4ED5-BD6D-FFA996B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嵌入式系统开发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DF5A2-0B5B-497F-A4AF-C211152D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974656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7CB12-13B9-4D85-A18E-477AC4C6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9CB4E-391B-4F40-9108-DD09663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4 章  软件开发与测试验证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A77F5-3AEB-4550-9345-77B25B07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355EE-636D-44C0-9303-F2120F48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新人常见的软件工作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8E27A-1D14-4043-909C-CBF5F515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D3498-BDD0-407A-9199-D4A46BA3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7E9A-F626-49D4-8EBD-1E9E385E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A0E3F-834C-40B2-A800-391035F5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根据需求完成软件修改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D8BD0-480C-48AF-B9E8-E8F2820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AEF68-4689-46AE-890F-06D5DD7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FAD1D-A391-4EF6-9AD6-EAE3924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先理解当前版本、需求与相关模块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C8476-23B1-4A06-B34A-F4A50F4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274DA-3011-4785-9C40-0AE093C7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71C68-9C2F-46D3-88A2-2631DAC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按团队流程修改、自测与提交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B58E5-7B1F-47EE-A5BA-9EFD9C9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F3C12-9DD1-4D7D-83AA-497A853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0FBF7-A832-415C-8289-BF559F02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在实践中积累工程经验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E0213-47D1-4627-AE39-AC34AE78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78C81-A222-430B-820A-5CD7359F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4015E-EF33-465A-B278-789B90D6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C15C6-E2F4-48A0-A1BD-29949B90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新人通常从软件修改开始。关键不是一次改动多少代码，而是能否理解版本、影响范围和验证方法。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AEBA9-AC48-45F1-8B64-CCAE26BE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教学意义：把研发流程联系到新人实际工作。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F0F22-A1B4-4F0B-B925-EB1D3478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365638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85653-290F-460D-8104-185BA72D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09F70-B57C-48A5-929B-8DAC19B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4 章  软件开发与测试验证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4301E-5BA3-4A2B-966A-EC9FD828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4.2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F461B-0C94-4BF7-BDE5-CB583F70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第一步：软件版本管理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A560E-ECBF-44CF-AC06-BDFA3DDC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3762E-DB86-4E07-8A47-464EE32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3907B-D5DB-4033-98D0-893C35D9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EF60C-6ED9-4A46-98A5-0A42D45E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Git、SourceTree、SVN 等工具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A0A76-4B53-4B68-9956-B7B364D0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9624-23D5-4B35-94F4-31B153D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FDF02-3B10-4507-BABC-617D50C7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记录代码由谁、何时、为何修改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32AF9-6438-410F-A434-B752DBB4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FD9F3-B1EB-4F61-AB8B-1C28B15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136C7-954D-41D9-9023-88E55C8F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支持比较、回退、合并与协作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CCACC-7981-4816-A641-0872092D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91CCC-B0F0-4FE7-A6D2-EA65C165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6EE1C-90D1-4E86-A269-D49D290E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7943D-01CD-4E74-AFEB-9094D706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版本管理记录软件变化，便于团队协作、比较差异和在问题出现时回退到可用版本。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1443B-0169-49F1-9B2B-DC3A592D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教学意义：理解版本管理是团队软件开发的基础。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57960-BD0E-4750-A165-5407D4E7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680195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61E50-878E-45F6-858B-03608CD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E56D9-890A-4C87-8B07-7542FC8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4 章  软件开发与测试验证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30257-46A9-4C9F-B809-D476626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4.3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D455E-B255-4F97-ACFB-774F9E5D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第二步：软件编码规范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A005-5BAC-4DCF-9E22-564E827A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42803-EB80-47B7-B10B-E3E167A0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0FDCB-FAE6-478C-853A-0A78CD49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C16B4-1E0F-48F0-A2C3-9C9B73B7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统一命名、格式与注释要求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F174F-B952-4E76-A2EB-5C6352A2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07079-6EF8-4258-9037-B9961AC2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1C41F-6039-4FFC-9F8D-F7729BB3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让代码更易阅读、检查与维护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4792C-4475-4960-84CB-3FE7CAD7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0BA9B-F456-4021-A72A-5AE4FB58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A5FD0-806D-4E84-B5C3-140B35B0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降低团队协作的理解成本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17794-067B-4B71-8F3D-E44FF42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47D11-E115-4E22-BE61-85D789B9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16DBA-3349-4031-8D04-2D4237E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5BBA0-E080-4604-9C58-CF53507A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编码规范让多人维护同一份代码时有共同语言，也让后续检查、调试和维护更有效率。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1D9D9-4923-4990-A3F2-8336EF63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教学意义：认识编码规范的工程价值。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E921F-1B31-43AF-9DCE-9521F36B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442747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135C0-B0FF-47B0-94FC-EFE2E944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ACF89-3D77-451E-8613-7FE24006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4 章  软件开发与测试验证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05142-C238-4DA9-BF17-CB3F442E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4.4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13049-E88A-4B77-BCC5-3F57A9FB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软件修改后的自测试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68BD1-0127-43A3-A57E-E4FD8931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0BA66-3149-4BA1-9C44-F4736095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6DA44-8BE2-4A17-BCEC-7C65773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966FB-61FB-4AB4-89C9-A10983E8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纯软件仿真：方便、成本较低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0A60B-9CF2-4391-8496-0154641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6ACF0-A111-432B-8CFA-B360AD2D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FAB30-E5F8-444C-BFD7-F81EC206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半物理仿真：模型结合部分真实硬件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85223-8186-4E7C-AF96-566CF474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3F3D6-8324-41B6-84A6-5614DC3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201C7-4BA1-49CC-AE1B-888F7AA3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小实物与缩比测试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04D34-F2A0-4B3D-9254-487B6089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A3E90-701A-4053-B305-C5138931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07CAF-5BD4-4DBD-8D4D-2AFD9F7C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最后进入实物测试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A1C94-9A1E-45D4-A097-A05BC306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9F23D-FA9A-4CCB-B18B-D9DC2EAC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48DA8-886A-4852-9C9A-6371E26A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4E760-2EA5-4E6E-BD74-A3F0855C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测试环境由简单到真实逐级推进。越早发现问题，修改成本越低，进入实物测试的风险也越小。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02D85-6A30-4D55-8A4D-AC2643CA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教学意义：理解测试从简单到真实的层次。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CAF09-783C-430A-8818-4C5D3A81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362443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E9996-DC76-428E-9B89-CAE8194C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F3EF0-D9CF-4710-8FA2-6D165E49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4 章  软件开发与测试验证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6836F-D6B8-4806-BCDC-A447D117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4.5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92374-2450-4357-B600-35C7BAF4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飞控软件验证流程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3A077-09A7-4725-AE6B-06AB857D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00586-3A2C-4891-870B-985BF55663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a49e4898a41bc"/>
          <a:stretch xmlns:a="http://schemas.openxmlformats.org/drawingml/2006/main"/>
        </p:blipFill>
        <p:spPr>
          <a:xfrm xmlns:a="http://schemas.openxmlformats.org/drawingml/2006/main">
            <a:off x="2918285" y="1571625"/>
            <a:ext cx="6355429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7CE90-59CB-493C-BC00-DE95008B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教学意义：用原图说明验证环境逐步接近真实系统。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81558-87F1-4B4B-A313-F1C7CD0E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017671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2F497-F2FD-4AA3-BE12-FD192C4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B1FCA-290A-4585-8B79-651A46C5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366712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03551-A225-40EB-B594-28185A6B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E6B04-6E96-472F-BE17-5E21038B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 5 章  调试与故障定位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F9329-F259-4723-BB7B-7951D8B7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用证据缩小问题范围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361BF-6284-4FBE-BE80-72CF667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79A41-F5E9-40FA-82BF-863BA0F3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6FB9A-0003-4CC1-B14B-2F81262A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故障现象与排查步骤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运行日志与在线 Debug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故障树与可复用的分析方法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D8039-D491-4C4E-A45C-4965A07C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959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C59FB-7297-4234-94E5-570195F0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教学意义：形成可复用的排查思路。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F2F0D-45E8-4710-8A42-99705726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嵌入式系统开发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DED85-1E3B-492D-BBEE-34077745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096693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6FA90-3DA3-4DFD-A377-CA96E5D8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81016-69BE-400F-9259-9B7E59B2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5 章  调试与故障定位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4E02B-03D8-4DDA-BB88-3DA0323B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5.1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023DE-63CF-431D-B88D-099D9757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问题出现后的分析方法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D7E6E-817C-498D-AE6C-6754C3FA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4628F-A516-423A-9461-4D356616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DFD1D-8A9C-4848-A413-FB52C391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D65FC-B660-4B91-A02B-8918167D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先明确故障现象与复现条件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82ADD-EE57-4983-A100-8C9314D6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8C6F6-5FF2-4D95-AA11-AA7F7EE0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DAB9E-9972-4734-BBB1-F5E2EDB8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用打印信息缩小排查范围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14944-B7DB-4B2C-90E3-B733F07E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E14FE-BE18-4195-B22B-D7028A7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E4964-7554-4077-AC7D-0DCC10A3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必要时采用二分法定位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B3D7D-03B9-448A-89C1-983C19AA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65424-7C49-4C87-A43D-396240A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D4868-8E9A-4BA0-BBF3-27CCD99A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每一步保留证据与检查结果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8E86E-28ED-4BE8-A9BF-E7672CF3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15EC0-B27A-4393-A824-D9B14C0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E3B98-583B-4054-8339-C1F99CDA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F9220-4CE1-4ED6-89F0-E841300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排查应从可复现的现象开始，逐步缩小范围。一次修改太多因素，往往无法判断真正原因。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7C9EC-3E6C-46BB-B36D-2C484733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教学意义：建立有步骤的排查习惯。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AD52F-32E0-4624-B2D9-ED6B005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34617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E6A37-3E63-463E-A0B5-6DF8381D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80841-A46D-4189-81FC-4AC1AB0E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5 章  调试与故障定位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62EFA-BB88-4D32-A402-94BE209D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5.2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3AD5B-7BCE-4856-9898-FF44F4F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日志分析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093FE-286B-40CD-82A6-710227E2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50671-F291-40A1-8841-18C4AFA7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B0AA2-E850-4FD8-BA77-DA84696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E7821-EBB9-45E1-9983-3DF33A00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SD 卡等设备保存运行日志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6F372-1FB1-4A2B-BA2D-425BD53C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1918B-ACE0-41BA-9226-D7834155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BE776-A2BE-4395-80B4-819F3225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记录姿态、控制量与传感器数据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9DDCA-C8B2-4689-B4BA-5655BC9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E8CAF-1B66-46FF-B872-D2233119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E6F1B-CA5C-4AC0-BAE1-5112765E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结合时间、版本和现场条件分析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7770C-5CA2-41CD-A133-AF020797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AA38E-8C0D-47F9-A47A-BC1DDE8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D4CF9-9040-498A-B1EB-AE4F708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修复后再次验证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9B08D-61AB-4414-959D-8E984C34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AE799-6474-4BE3-A402-35FD6693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0DA5C-C09E-4D2E-8A29-89901FBC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5B488-18F0-4DC6-BA3D-B4A6302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日志相当于系统运行过程的记录。结合时间、软件版本和现场条件，才能还原异常发生的过程。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DB2B4-EEE2-4CAF-ACDF-0D2621B0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教学意义：认识日志在问题复盘中的作用。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E5327-7804-4DEB-9396-FDAAA65E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149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366FDB-1C43-4258-9AFE-F3CB5C5F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5BB63-DBA0-474F-937F-1C204DE6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5 章  调试与故障定位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EFCFF-0E6E-4197-B3F7-59F26089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5.3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19B70-7C8F-4620-A593-015CF67E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在线 Debug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BAE63-480C-44FC-9B24-E3C521B0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8DDD7-9A47-49B3-BCED-C5A8A080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73E9A-7AC3-48B5-979A-2FFC04E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91D04-55B1-49AC-9214-7510E48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设置断点并单步执行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F66F0-75F0-40F7-A825-D95BEC66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1D140-929E-48AC-9774-6620169E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E80F8-1CC4-4AF9-82AC-1704A333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查看嵌入式系统内部变量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41C3E-3C2D-4044-A639-0B7FD80C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4DB93-0071-433D-9ECB-56D175C7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C2067-0E7F-4EEC-9BBD-0D0001CC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观察程序调用路径与数据变化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D35F1-2C2C-48C9-9D7B-CD3900D9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CCE96-42AE-493A-A75E-81E425B1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4E016-3B56-472C-86D8-869CC2D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结合日志和硬件工具分析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F3634-BD04-4D25-ACAD-2BD8B802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3F658-3991-4995-8CEF-61A6DF81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1486-301D-46C6-A3B2-E6C68B2A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170FE-F1BE-41CC-A644-3E883250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在线 Debug 适合查看变量和程序路径。硬件接口、时序和实际电平问题还需结合日志与测量工具确认。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EA0170-64D5-4F99-95ED-E74F4BA7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教学意义：理解 Debug 能观察程序内部状态。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BDFB3-0D68-4DDA-97E8-6BAFF47E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370819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7B371-B75C-4A94-B6CF-73EFF666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1E08F-2FEB-4903-B1D3-74C2EF93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5 章  调试与故障定位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ACE2B-9F18-4B9E-B2A9-0920026A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5.4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08E55-7A0F-4DEA-B8A1-8E72CB08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故障树绘制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9D216-C6FE-4232-938A-FA7BD098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7CE7D-11D1-480E-BA29-599FB50C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C242E-438A-4626-8974-E9C8C44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A27E3-E3E2-4609-85D3-ECEF7A65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顶层故障：系统数据异常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BEB8A-DDF3-4BDD-AADE-422862C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C867B-BF9E-4268-B59B-5242B8EA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83AA4-6372-44EF-B1E2-0280BB53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可能原因：供电、连接、配置、软件逻辑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DF8E1-1D3D-47C6-B287-55D62140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B43FD-AC09-4A7F-B2D4-A5E42C5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065D7-3336-421E-8EC5-C43F4A6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逐项验证并排除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D5520-0662-472B-9E01-4330344C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1C35C-8FDA-4DF4-934D-90E2D25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4D2B5-4EB2-4367-8C0B-89E22C89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形成可复用的分析方法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D5BB6-5A4B-4837-930D-606C8513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86C9F-C3AA-4265-B3EB-9E5C40D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60A85-E818-46F3-A0AF-EBE6CCC9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795A2-2693-43A9-AC89-3373470A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故障树把一个顶层问题拆分为多条可能原因，再为每条原因设计检查方法，避免排查遗漏方向。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17D03-5CF4-4AB7-8238-0CA40F01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教学意义：介绍故障树作为结构化排查工具。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A568E-3C37-48BC-B1A2-61C4B08B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967074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20057-6AA9-4385-A326-524E6A1A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7F070-7558-45E0-AF57-63ADDFDD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366712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A850F-D18A-4FB5-97FD-15751EF2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68A21-13C6-416C-ACA7-58CCEC82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 6 章  卫星嵌入式系统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870DD-D01D-4EA2-905E-9F8CD74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CPU、FPGA 与 BSP 的分层设计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EBE7E-5273-48AF-AF20-DC2EF770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46964-89DD-4605-8880-E816F765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CD499-CE95-4B86-A549-1EC29852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商业航天星上软件场景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CPU、FPGA 与 BSP 分层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航空与航天应用环境的差异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961B6-1CFF-45F1-A7DF-614B6716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959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E5A05-845B-478B-A711-7A606E2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教学意义：从无人机案例过渡到星载软件与计算系统。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52A2F-797C-4D00-8EB6-775FB003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嵌入式系统开发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82B97-9A44-42D1-83EA-FD1E109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943331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4AFA0-7F20-4685-94B3-E7CF32B6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E9547-9F84-41FF-A789-7F32EA1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6 章  卫星嵌入式系统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EE6E1-2B30-47EF-973C-49FD04A4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6.1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2D1FA-5065-46DE-B757-7193651A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北京工作经历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E761C-0E9F-4517-ADC0-8CF66E1D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5DA2A-BAF8-4055-A53C-213A9B66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1F68F-F451-42D5-A084-D8D674A0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A0E62-AF58-489C-B6AD-558C235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商业航天工程背景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2A646-9669-4CB5-89A4-58FDC3D8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E1879-42C5-4CD1-A8B2-7FB9B41C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091BA-ADA1-4AC4-96F9-47834939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星上嵌入式软件开发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15E3E-8C7F-454E-BC4B-9AEA9F07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C7CC1-0CEB-4986-BAD9-CD3779B9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90B2F-4CC8-4C4B-B1A4-4D8D3D1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产品架构与软件分层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E87C5-5D07-47B7-928C-1D38E324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650D7-0D8C-4DD9-BF5E-4F55AFFF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920E7-3B71-4BBF-9A4A-CC301C32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从项目经历概括开发流程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ADE82-C6D0-48EF-BA8B-5F745A954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5869a511742d3"/>
          <a:stretch xmlns:a="http://schemas.openxmlformats.org/drawingml/2006/main"/>
        </p:blipFill>
        <p:spPr>
          <a:xfrm xmlns:a="http://schemas.openxmlformats.org/drawingml/2006/main">
            <a:off x="6191250" y="1857375"/>
            <a:ext cx="4857750" cy="3238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53552-074B-4D2C-A36B-58E2BCD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教学意义：从无人机案例过渡到卫星工程。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61B1A-E4FC-4FC3-B55B-E6F8557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456652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F8F85-5994-4AB7-906D-CB3D7D41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F7CD7-CB18-4FFC-8010-34527F87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6 章  卫星嵌入式系统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2CA2A-85A2-46AA-AC3F-A7780865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10A7C-68B1-472E-BD01-337C754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星载计算系统架构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3DCDF-2D8E-4645-9AAA-EB842AF3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6DD53-9816-4306-B728-CE31F0C5E3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ab76ec2284b9e"/>
          <a:stretch xmlns:a="http://schemas.openxmlformats.org/drawingml/2006/main"/>
        </p:blipFill>
        <p:spPr>
          <a:xfrm xmlns:a="http://schemas.openxmlformats.org/drawingml/2006/main">
            <a:off x="2917031" y="1571625"/>
            <a:ext cx="6357938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D50BE-C89E-4584-B172-40CAAC86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教学意义：认识大纲中的 CPU、FPGA 与 BSP 概念。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0D546-C72F-40CA-9DFF-8FB4ABB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4001909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14D0B-3BDF-40CB-93CB-C6001C0A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12296-C7B8-4C31-8B86-4CA4D625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6 章  卫星嵌入式系统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D0966-EFCD-4FF5-8321-3DDB76F1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6.3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68754-23C6-4072-AC44-D2638F47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CPU、FPGA 与 BSP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C6C94-36BF-4765-B31C-D7F76BA3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3D1DF-B186-4A58-B28A-60037051D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4493a3edb49c7"/>
          <a:stretch xmlns:a="http://schemas.openxmlformats.org/drawingml/2006/main"/>
        </p:blipFill>
        <p:spPr>
          <a:xfrm xmlns:a="http://schemas.openxmlformats.org/drawingml/2006/main">
            <a:off x="3529645" y="1571625"/>
            <a:ext cx="513271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41AF5-CBC8-49BE-90B4-F17EA0F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教学意义：将星载架构图中的概念单独讲清楚。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95DFB-E5A0-4FA3-B570-037816C3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267808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B7F79-5AF0-41F6-83D9-3C0D106E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BE425-8E97-4B6A-AE55-360C9155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6 章  卫星嵌入式系统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FE789-EBCF-4306-9934-B01FE88E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6.4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ECE77-050B-4D8A-B9D0-7ADA3DE9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航空与航天的区别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19640-800F-494A-AC6D-288559FA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49265-9FDB-44E6-BE3E-48FAF85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FE29C-7339-472C-8044-00946239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A4336-6BD4-41AF-BB9E-C7C4B917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航空：主要在大气环境中运行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08DEF-0C53-4F06-AEB4-768206CE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A50A2-DE91-474D-B849-98B3D22D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A9998-7372-489B-9166-D6B47B3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航天：面对热、辐射等空间环境约束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1EA0C-FB92-4940-B409-781DB79E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C8F95-6574-4948-A1C6-6AEDBC20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4930E-4124-4E98-B11D-23848116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两者都重视系统设计、可靠性与验证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753F1-CCC3-4CF5-9F3D-075B9FC8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41996-2F6C-4674-86D0-99C6E608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5636B-C95A-463F-A1E2-2E3F6112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抗辐照措施按任务要求确定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4D568-1D81-4387-B648-413C575F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81756-0BD8-41A5-86DD-F8D782F7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26F21-5CF1-408A-9A9D-985880F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D787C-CA43-4FE0-BE2C-3C422BB1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航空产品主要面对大气环境和气动力问题；航天产品还要面对空间热环境、辐射和维护受限等条件。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8FC33-57D5-459A-A6AC-8C5F841D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教学意义：结合工作经验比较应用环境。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A798F-0989-4E5B-9354-4AECF7E8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3849208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CC0DE-511E-4584-9C8C-AD8512A8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354BF-50FA-43D0-B7AA-43D9BF75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366712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9C9FC-C3DA-4B26-AF60-F381072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EAA48-17A7-4148-892F-02E90785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 7 章  工程意识与知识梳理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0CE65-F2D2-448A-B765-80698DE9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法律、安全与嵌入式基础能力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B660D-5180-4180-9073-DC91243C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465F5-0CD7-4922-AF74-9D82782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AC762-660C-4253-A082-38A7BA2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法律、知识产权与安全意识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STM32 常见外设与接口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嵌入式工作的基础能力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25D39-DF95-4920-9C34-8023E5B2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959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643E5-871F-4747-991D-60FB451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教学意义：将工程约束与基础知识放回完整开发流程中理解。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00041-15B8-4F6C-BB83-11B796D2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嵌入式系统开发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F8D7A-5A94-4A42-A60A-23D77AAD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152869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E1216-36A9-4BAC-ADE9-33E0929F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9A679-2056-499D-953F-AAC376C3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7 章  工程意识与知识梳理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6E08F-A747-4491-A946-18766CFD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7.1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705CC-8A7E-4B2C-ADD4-DEA99FEF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工程中的法律与安全意识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82A88-5152-4D9D-8233-AD5EBB3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26906-6B23-426D-A76E-3CDE2C46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3A53-971D-4ABA-969B-C3C6EBA5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C497A-B04C-49A0-B17E-C479DD88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了解适用规范与行业要求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ECE18-0C4B-487D-BCF5-C3A6B7F8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8704F-DC74-40FB-9596-D605CBE6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AD1A1-BF45-4512-B876-F9B851D0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关注软件著作权与专利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C9C06-EAD8-49D8-BE93-BC17206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04A38-810A-401B-A560-C103A2B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9FAA9-FEBC-4AA2-83A3-61DB39F4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成果归属和申请条件以实际制度为准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FBA5C-2E35-4DC4-B0F4-DF77125F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D3AF1-A8A5-4D88-B482-DF925A33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DA976-0F03-4700-B0E1-178A8487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航空航天项目始终把安全放在首位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FC21A-DF4A-47A8-8771-BC77D753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06526-D14A-4002-A301-B0D2159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74A7F-9135-4B00-A688-8ADCF288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6EDEF-583D-4FDF-94A4-B860BBD0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软件著作权、专利和成果归属需要按照单位制度办理。航空航天工程中，安全始终是首要约束。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EF4F0-2C60-4AA1-B47A-ABEC491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教学意义：补充原大纲中的法律和知识产权意识。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4F402-E446-4676-9022-8A7F7E2F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7118282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F2899B-F136-42AB-A4B7-4859C886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65B92-E69E-48FE-8357-578FB219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7 章  工程意识与知识梳理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B41E5-F3EA-4095-BE0A-ABE7D64D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7.2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3ADDF-ABE9-4260-895B-306CF9E9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什么是 STM32 外设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5F2DC-7045-4958-A2A1-505D4656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CE3DD-584E-46E9-B5B4-7F4BC280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E90EA-35B4-42F8-ABCC-B2640358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645FA-3E3E-4663-A710-E7AD4804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外设是芯片内部完成具体任务的功能模块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CE6C8-1D82-498A-8DE2-680613D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010C2-C915-4427-8875-A38779B6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CCCDF-BBAC-4893-8334-3876F715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GPIO：数字输入与输出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FFAA1-4959-4BB8-9627-0BD2350B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471BE-8105-45F4-A16B-57D45855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C1A25-F545-4BE6-A257-5B3BCE23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PWM：产生控制脉冲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3B23F-24F4-4455-B2B0-546A3A39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C5683-5E00-4708-BC0D-42CA1468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D9F7D-E0A7-4122-9DC4-B71810F5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ADC：采集模拟电压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27AE4-4156-46FC-A667-9794EB73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94502-3133-45B0-9DCC-0A77CAE4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C9209-604F-4818-919C-5C2324A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UART、SPI、I²C：连接外部设备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58970-B773-47BD-A2EC-065AF226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8A7F0-7F1B-44AB-BE4E-685A9187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E97BA-2A73-4ABF-A6B3-2E5365BB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54C8F-508F-4612-88CA-3A61CEAC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外设让芯片能够感知外部信息、产生控制信号并与其他设备通信，是软硬件连接的基础。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50D50-1C65-446C-9C6E-3D762201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教学意义：回顾大纲中的“外设存在意义”。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36200-A8C4-4365-B0B8-5D5B7A38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110091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2080D-B4E2-49BB-AA74-9C0B1EDE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446D2-B931-4593-A699-45B0D48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7 章  工程意识与知识梳理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D838E-A41F-4D59-9D96-16AA140A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7.3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2AF21-836B-47CE-B45D-1564E198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嵌入式工作中的基础能力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DC88B-7429-4529-8277-BDCBD186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4F63E-085A-4E12-AD40-018D4E39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577F9-0091-4F0C-951E-E0063F4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B2750-BAC2-4C41-8A3B-CB876F0D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理解常见外设与接口概念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C4DF2-7874-43D5-B3A8-9EECB799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7762E-F33F-4BE4-8FD3-AF212631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34655-0D36-4677-B09B-2FD5F38F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知道编译、链接和程序运行的基本过程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9F12B-5B19-4ED2-AA92-27FC8F90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9D67F-6E4E-44B2-8634-3CBC0073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43662-E545-4FE5-AAFE-C6049A13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具备版本管理与开发流程意识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51EF6-2D48-44FC-BCD8-59D543D2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37A0F-A118-48CD-B960-C426AB21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707FF-6E48-4627-ADB7-6D59C77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至少熟悉一种操作系统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AC7F2-F0F2-4A23-B160-CA09E53E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3B51A-C341-44A7-AD8C-A25CC3E0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F872F-DAC8-4E96-B90A-842E09C0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会使用问题单系统记录任务与问题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CA86A-1CDE-4DD0-852D-A7068075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C185F-FABA-4765-A736-E2581937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45C8B-314E-4A33-A103-9C5B4B5C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D51C0-F0DD-4FA8-A4BB-8BCCF820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外设概念、编译过程、版本管理、操作系统和问题单系统，共同构成嵌入式工程工作的基础。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A6E88-66EE-4C45-8974-3529827F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教学意义：将原大纲结尾归纳为学习方向。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61D11-4436-4693-89EA-9D569A7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5913722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4C19B-6861-4E4E-B946-F62EDD7C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B5483-2C98-4718-BBD5-96F6414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"/>
            <a:ext cx="3667125" cy="663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51A5A-B436-4E3B-A987-ACE0A32E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5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课程章节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026B0-E3FE-403F-8DFA-7AF71986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第 8 章  课程总结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17EBF-2553-40F1-B6C0-8EFC8DF0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从工程案例回到开发方法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3AFF5-57AB-4AF4-B923-C268B0EA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本章内容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E16A-7ADA-4EE1-BA66-40078DA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0F297-304D-4290-BEDA-46D202EE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回顾工程案例与开发流程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串联需求、设计、开发、调试与验证</a:t>
            </a:r>
          </a:p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回到嵌入式学习的核心方法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51EE8-C59C-4219-AF5A-FC5A94D5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959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1CE6A-7990-4EB5-B7F2-E9933D40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教学意义：回顾“需求、设计、开发、调试、验证”的完整链路。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9EC66-C99E-483B-AD86-E7B3F7CE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嵌入式系统开发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476F7-0CFD-4874-81A7-6F93B13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102518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91FD6-8DAD-4FF2-9F25-BBD93839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0407B-88D2-4381-B757-B68E1AC4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第 8 章  课程总结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E551E-B8FF-4070-BCAF-5D12F0CE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8.1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C46AB-7B76-48B8-BE5C-3457184B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B65"/>
                </a:solidFill>
                <a:latin typeface="Microsoft YaHei"/>
                <a:ea typeface="Microsoft YaHei"/>
                <a:cs typeface="Microsoft YaHei"/>
              </a:rPr>
              <a:t>课程总结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8DAE3-F95F-4C10-BB3C-9123227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8997E-323A-48A0-88F1-7B9718C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A636E-FC21-42C9-AF3F-CFCE7EFD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8C943-1B79-4023-9743-326969B4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从无人机到卫星：应用场景不同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EB559-453B-4AE0-B5C6-0548482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70DD9-C49B-4649-BF08-50AF60F2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04456-71D7-4415-BF24-D958FDE9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从需求到测试：开发流程相通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5CB08-230E-4C7B-80BA-C3953A2D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3A0CD-3CE2-4649-A67A-5D53BE86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73E9F-C081-46EA-B63B-1C8F1AB9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从外设到系统：把知识放回工程场景理解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AD129-0863-42A3-ABD6-8701E879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53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34232-8FD1-4EE5-8139-9EDB9C40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DAC97-8065-4B19-A061-5DB210C7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从问题到证据：调试依靠方法与记录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E0C6E-B0FB-4DCE-B080-0E5006EE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095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54C98-F7DD-4660-ABC1-DB0FEB9F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C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D2B48-6CE2-4E9E-8FE0-2717186A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9C9A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25A28-B171-4593-BD69-EE5FBEB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3314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653"/>
                </a:solidFill>
                <a:latin typeface="Microsoft YaHei"/>
                <a:ea typeface="Microsoft YaHei"/>
                <a:cs typeface="Microsoft YaHei"/>
              </a:rPr>
              <a:t>不同产品的应用场景不同，但工程开发都需要从需求出发，经设计、实现、调试和测试形成闭环。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4A986-8E87-4971-AC30-15ED78C1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184"/>
                </a:solidFill>
                <a:latin typeface="Microsoft YaHei"/>
                <a:ea typeface="Microsoft YaHei"/>
                <a:cs typeface="Microsoft YaHei"/>
              </a:rPr>
              <a:t>教学意义：回顾大纲所有主线内容。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1EF65-B55D-4DA8-A048-01A883B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1912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DB3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945432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2026-10-20T07:27:24.3550000Z</dcterms:created>
  <dcterms:modified xsi:type="dcterms:W3CDTF">2026-10-20T07:27:24.3550000Z</dcterms:modified>
</coreProperties>
</file>